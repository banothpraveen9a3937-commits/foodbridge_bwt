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1"/>
  </p:sldMasterIdLst>
  <p:notesMasterIdLst>
    <p:notesMasterId r:id="rId10"/>
  </p:notesMasterIdLst>
  <p:sldIdLst>
    <p:sldId id="263" r:id="rId2"/>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CC84BD7-AF83-4478-BA9D-BEFA2440420C}">
          <p14:sldIdLst>
            <p14:sldId id="263"/>
            <p14:sldId id="256"/>
            <p14:sldId id="257"/>
            <p14:sldId id="258"/>
            <p14:sldId id="259"/>
            <p14:sldId id="260"/>
            <p14:sldId id="261"/>
            <p14:sldId id="26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94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0066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FoodBridge as a real-time bridge between surplus food and organizations serving communities. Our goal is to make donations discoverable, safe to reserve, and easy to track.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Restaurants, hostels and caterers can have edible surplus while NGOs lack a fast, trusted way to discover it. UNEP estimated that 19% of food available to consumers was wasted in 2022, showing why better coordination matters.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FoodBridge is a two-sided marketplace: donors publish surplus and NGOs search for nearby, time-sensitive donations. Expiry checks, role-based access, and atomic reservation logic help prevent unsafe claims and double-booking.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donor submits food details, and the API validates and stores the record in MongoDB. An atomic conditional update reserves only an available, unexpired donation, then the NGO collects it and the status persists.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React and Vite power the interface, while Express APIs connect the application to MongoDB through Mongoose. bcrypt, JWT role middleware, and atomic findOneAndUpdate protect access and reservations; indexed listing queries and a 200-record cap keep searches manageable.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demo, show authentication, the donor dashboard, donation creation, NGO filters, and status updates. Walk one donation through Available, Reserved, and Collected, refresh to verify persistence, and connect the workflow to less waste and faster pickups.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current achievement is a full-stack prototype with CRUD, authentication, and role-based access. Next, we plan to add location-aware discovery, alerts, NGO verification, impact analytics, a mobile app, and production-ready scalability.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31336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7036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6818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0638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8610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7140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0714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41926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84191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3839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1818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5306627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92420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96319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8004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09748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294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10/10/2026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713219875"/>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www.unep.org/resources/publication/food-waste-index-report-2024"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6E5624-5470-233B-644F-47094748E517}"/>
              </a:ext>
            </a:extLst>
          </p:cNvPr>
          <p:cNvPicPr>
            <a:picLocks noChangeAspect="1"/>
          </p:cNvPicPr>
          <p:nvPr/>
        </p:nvPicPr>
        <p:blipFill>
          <a:blip r:embed="rId2"/>
          <a:stretch>
            <a:fillRect/>
          </a:stretch>
        </p:blipFill>
        <p:spPr>
          <a:xfrm>
            <a:off x="904768" y="234331"/>
            <a:ext cx="9144792" cy="1798476"/>
          </a:xfrm>
          <a:prstGeom prst="rect">
            <a:avLst/>
          </a:prstGeom>
        </p:spPr>
      </p:pic>
      <p:pic>
        <p:nvPicPr>
          <p:cNvPr id="7" name="Picture 6">
            <a:extLst>
              <a:ext uri="{FF2B5EF4-FFF2-40B4-BE49-F238E27FC236}">
                <a16:creationId xmlns:a16="http://schemas.microsoft.com/office/drawing/2014/main" id="{3F425F33-C4CB-FC4A-C5E4-8AB74CDB8DDA}"/>
              </a:ext>
            </a:extLst>
          </p:cNvPr>
          <p:cNvPicPr>
            <a:picLocks noChangeAspect="1"/>
          </p:cNvPicPr>
          <p:nvPr/>
        </p:nvPicPr>
        <p:blipFill>
          <a:blip r:embed="rId3"/>
          <a:stretch>
            <a:fillRect/>
          </a:stretch>
        </p:blipFill>
        <p:spPr>
          <a:xfrm>
            <a:off x="175489" y="2402262"/>
            <a:ext cx="5809673" cy="3287338"/>
          </a:xfrm>
          <a:prstGeom prst="rect">
            <a:avLst/>
          </a:prstGeom>
        </p:spPr>
      </p:pic>
      <p:sp>
        <p:nvSpPr>
          <p:cNvPr id="8" name="TextBox 7">
            <a:extLst>
              <a:ext uri="{FF2B5EF4-FFF2-40B4-BE49-F238E27FC236}">
                <a16:creationId xmlns:a16="http://schemas.microsoft.com/office/drawing/2014/main" id="{15A688BB-BDD7-4EFC-19B6-B46D6B9C837C}"/>
              </a:ext>
            </a:extLst>
          </p:cNvPr>
          <p:cNvSpPr txBox="1"/>
          <p:nvPr/>
        </p:nvSpPr>
        <p:spPr>
          <a:xfrm>
            <a:off x="6096000" y="3935274"/>
            <a:ext cx="5080000" cy="1754326"/>
          </a:xfrm>
          <a:prstGeom prst="rect">
            <a:avLst/>
          </a:prstGeom>
          <a:noFill/>
        </p:spPr>
        <p:txBody>
          <a:bodyPr wrap="square" rtlCol="0">
            <a:spAutoFit/>
          </a:bodyPr>
          <a:lstStyle/>
          <a:p>
            <a:r>
              <a:rPr lang="en-US" dirty="0">
                <a:latin typeface="Bahnschrift" panose="020B0502040204020203" pitchFamily="34" charset="0"/>
              </a:rPr>
              <a:t>TEAM NUMBER :05</a:t>
            </a:r>
          </a:p>
          <a:p>
            <a:r>
              <a:rPr lang="en-US" dirty="0">
                <a:latin typeface="Bahnschrift" panose="020B0502040204020203" pitchFamily="34" charset="0"/>
              </a:rPr>
              <a:t>TEAM MEMBERS:</a:t>
            </a:r>
          </a:p>
          <a:p>
            <a:r>
              <a:rPr lang="en-US" dirty="0"/>
              <a:t>1.T.</a:t>
            </a:r>
            <a:r>
              <a:rPr lang="en-US"/>
              <a:t>SAI LOKESH-25MVCSMR0444</a:t>
            </a:r>
            <a:endParaRPr lang="en-US" dirty="0"/>
          </a:p>
          <a:p>
            <a:r>
              <a:rPr lang="en-US" dirty="0"/>
              <a:t>2. J.ANIL KUMAR-25MVCSMR0400</a:t>
            </a:r>
          </a:p>
          <a:p>
            <a:r>
              <a:rPr lang="en-US" dirty="0"/>
              <a:t>3.B.PRAVEEN  -25MVCSMR0373</a:t>
            </a:r>
          </a:p>
          <a:p>
            <a:r>
              <a:rPr lang="en-US" dirty="0"/>
              <a:t>4.MD.MUSTAFA-25MVCSMR0420</a:t>
            </a:r>
            <a:endParaRPr lang="en-IN" dirty="0"/>
          </a:p>
        </p:txBody>
      </p:sp>
      <p:sp>
        <p:nvSpPr>
          <p:cNvPr id="9" name="TextBox 8">
            <a:extLst>
              <a:ext uri="{FF2B5EF4-FFF2-40B4-BE49-F238E27FC236}">
                <a16:creationId xmlns:a16="http://schemas.microsoft.com/office/drawing/2014/main" id="{B22CED2B-8375-A73D-96AC-E3A087C476E5}"/>
              </a:ext>
            </a:extLst>
          </p:cNvPr>
          <p:cNvSpPr txBox="1"/>
          <p:nvPr/>
        </p:nvSpPr>
        <p:spPr>
          <a:xfrm>
            <a:off x="6844146" y="2181487"/>
            <a:ext cx="4331854" cy="584775"/>
          </a:xfrm>
          <a:prstGeom prst="rect">
            <a:avLst/>
          </a:prstGeom>
          <a:noFill/>
        </p:spPr>
        <p:txBody>
          <a:bodyPr wrap="square" rtlCol="0">
            <a:spAutoFit/>
          </a:bodyPr>
          <a:lstStyle/>
          <a:p>
            <a:r>
              <a:rPr lang="en-US" sz="3200" i="1">
                <a:latin typeface="Arial Black" panose="020B0A04020102020204" pitchFamily="34" charset="0"/>
              </a:rPr>
              <a:t>FOOD  BRIDGE</a:t>
            </a:r>
            <a:endParaRPr lang="en-IN" sz="3200" i="1">
              <a:latin typeface="Arial Black" panose="020B0A04020102020204" pitchFamily="34" charset="0"/>
            </a:endParaRPr>
          </a:p>
        </p:txBody>
      </p:sp>
      <p:sp>
        <p:nvSpPr>
          <p:cNvPr id="10" name="TextBox 9">
            <a:extLst>
              <a:ext uri="{FF2B5EF4-FFF2-40B4-BE49-F238E27FC236}">
                <a16:creationId xmlns:a16="http://schemas.microsoft.com/office/drawing/2014/main" id="{A00F2E63-522A-80F7-B62E-962049CB85CE}"/>
              </a:ext>
            </a:extLst>
          </p:cNvPr>
          <p:cNvSpPr txBox="1"/>
          <p:nvPr/>
        </p:nvSpPr>
        <p:spPr>
          <a:xfrm>
            <a:off x="6439204" y="3251853"/>
            <a:ext cx="4581238" cy="646331"/>
          </a:xfrm>
          <a:prstGeom prst="rect">
            <a:avLst/>
          </a:prstGeom>
          <a:noFill/>
        </p:spPr>
        <p:txBody>
          <a:bodyPr wrap="square" rtlCol="0">
            <a:spAutoFit/>
          </a:bodyPr>
          <a:lstStyle/>
          <a:p>
            <a:r>
              <a:rPr lang="en-US">
                <a:solidFill>
                  <a:schemeClr val="accent3">
                    <a:lumMod val="60000"/>
                    <a:lumOff val="40000"/>
                  </a:schemeClr>
                </a:solidFill>
                <a:latin typeface="Algerian" panose="04020705040A02060702" pitchFamily="82" charset="0"/>
              </a:rPr>
              <a:t>PROBLEM STATEMENT </a:t>
            </a:r>
            <a:r>
              <a:rPr lang="en-US">
                <a:latin typeface="Algerian" panose="04020705040A02060702" pitchFamily="82" charset="0"/>
              </a:rPr>
              <a:t>: FOOD DONATION MARKET PLACE</a:t>
            </a:r>
            <a:endParaRPr lang="en-IN">
              <a:latin typeface="Algerian" panose="04020705040A02060702" pitchFamily="82" charset="0"/>
            </a:endParaRPr>
          </a:p>
        </p:txBody>
      </p:sp>
    </p:spTree>
    <p:extLst>
      <p:ext uri="{BB962C8B-B14F-4D97-AF65-F5344CB8AC3E}">
        <p14:creationId xmlns:p14="http://schemas.microsoft.com/office/powerpoint/2010/main" val="2116753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221C"/>
        </a:solidFill>
        <a:effectLst/>
      </p:bgPr>
    </p:bg>
    <p:spTree>
      <p:nvGrpSpPr>
        <p:cNvPr id="1" name=""/>
        <p:cNvGrpSpPr/>
        <p:nvPr/>
      </p:nvGrpSpPr>
      <p:grpSpPr>
        <a:xfrm>
          <a:off x="0" y="0"/>
          <a:ext cx="0" cy="0"/>
          <a:chOff x="0" y="0"/>
          <a:chExt cx="0" cy="0"/>
        </a:xfrm>
      </p:grpSpPr>
      <p:sp>
        <p:nvSpPr>
          <p:cNvPr id="2" name="Oval 1"/>
          <p:cNvSpPr/>
          <p:nvPr/>
        </p:nvSpPr>
        <p:spPr>
          <a:xfrm>
            <a:off x="7818120" y="-914400"/>
            <a:ext cx="5029200" cy="5029200"/>
          </a:xfrm>
          <a:prstGeom prst="ellipse">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732520" y="182880"/>
            <a:ext cx="3200400" cy="3200400"/>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326880" y="777240"/>
            <a:ext cx="2011680" cy="2011680"/>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875520" y="1325880"/>
            <a:ext cx="914400" cy="914400"/>
          </a:xfrm>
          <a:prstGeom prst="ellipse">
            <a:avLst/>
          </a:prstGeom>
          <a:solidFill>
            <a:srgbClr val="F9F7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566928"/>
            <a:ext cx="4572000" cy="274320"/>
          </a:xfrm>
          <a:prstGeom prst="rect">
            <a:avLst/>
          </a:prstGeom>
          <a:noFill/>
        </p:spPr>
        <p:txBody>
          <a:bodyPr wrap="square" lIns="36576" tIns="36576" rIns="36576" bIns="36576" anchor="t">
            <a:spAutoFit/>
          </a:bodyPr>
          <a:lstStyle/>
          <a:p>
            <a:pPr algn="l">
              <a:spcAft>
                <a:spcPts val="0"/>
              </a:spcAft>
            </a:pPr>
            <a:r>
              <a:rPr sz="1100" b="1">
                <a:solidFill>
                  <a:srgbClr val="AFE169"/>
                </a:solidFill>
                <a:latin typeface="Aptos"/>
              </a:rPr>
              <a:t>HACKATHON PROJECT  •  MERN STACK</a:t>
            </a:r>
          </a:p>
        </p:txBody>
      </p:sp>
      <p:sp>
        <p:nvSpPr>
          <p:cNvPr id="7" name="TextBox 6"/>
          <p:cNvSpPr txBox="1"/>
          <p:nvPr/>
        </p:nvSpPr>
        <p:spPr>
          <a:xfrm>
            <a:off x="658368" y="1234440"/>
            <a:ext cx="6766560" cy="1097280"/>
          </a:xfrm>
          <a:prstGeom prst="rect">
            <a:avLst/>
          </a:prstGeom>
          <a:noFill/>
        </p:spPr>
        <p:txBody>
          <a:bodyPr wrap="square" lIns="36576" tIns="36576" rIns="36576" bIns="36576" anchor="t">
            <a:spAutoFit/>
          </a:bodyPr>
          <a:lstStyle/>
          <a:p>
            <a:pPr algn="l">
              <a:spcAft>
                <a:spcPts val="0"/>
              </a:spcAft>
            </a:pPr>
            <a:r>
              <a:rPr sz="4600" b="1">
                <a:solidFill>
                  <a:srgbClr val="F9F7EE"/>
                </a:solidFill>
                <a:latin typeface="Aptos"/>
              </a:rPr>
              <a:t>FoodBridge</a:t>
            </a:r>
          </a:p>
        </p:txBody>
      </p:sp>
      <p:sp>
        <p:nvSpPr>
          <p:cNvPr id="8" name="TextBox 7"/>
          <p:cNvSpPr txBox="1"/>
          <p:nvPr/>
        </p:nvSpPr>
        <p:spPr>
          <a:xfrm>
            <a:off x="704088" y="2304288"/>
            <a:ext cx="6217920" cy="731520"/>
          </a:xfrm>
          <a:prstGeom prst="rect">
            <a:avLst/>
          </a:prstGeom>
          <a:noFill/>
        </p:spPr>
        <p:txBody>
          <a:bodyPr wrap="square" lIns="36576" tIns="36576" rIns="36576" bIns="36576" anchor="t">
            <a:spAutoFit/>
          </a:bodyPr>
          <a:lstStyle/>
          <a:p>
            <a:pPr algn="l">
              <a:spcAft>
                <a:spcPts val="0"/>
              </a:spcAft>
            </a:pPr>
            <a:r>
              <a:rPr sz="2400" b="1">
                <a:solidFill>
                  <a:srgbClr val="FF8F42"/>
                </a:solidFill>
                <a:latin typeface="Aptos"/>
              </a:rPr>
              <a:t>Food should find people —
not landfills.</a:t>
            </a:r>
          </a:p>
        </p:txBody>
      </p:sp>
      <p:sp>
        <p:nvSpPr>
          <p:cNvPr id="9" name="TextBox 8"/>
          <p:cNvSpPr txBox="1"/>
          <p:nvPr/>
        </p:nvSpPr>
        <p:spPr>
          <a:xfrm>
            <a:off x="713232" y="3337560"/>
            <a:ext cx="5577840" cy="621792"/>
          </a:xfrm>
          <a:prstGeom prst="rect">
            <a:avLst/>
          </a:prstGeom>
          <a:noFill/>
        </p:spPr>
        <p:txBody>
          <a:bodyPr wrap="square" lIns="36576" tIns="36576" rIns="36576" bIns="36576" anchor="t">
            <a:spAutoFit/>
          </a:bodyPr>
          <a:lstStyle/>
          <a:p>
            <a:pPr algn="l">
              <a:spcAft>
                <a:spcPts val="0"/>
              </a:spcAft>
            </a:pPr>
            <a:r>
              <a:rPr sz="1600" b="0">
                <a:solidFill>
                  <a:srgbClr val="BBCFC1"/>
                </a:solidFill>
                <a:latin typeface="Aptos"/>
              </a:rPr>
              <a:t>A real-time marketplace that connects surplus food from donors to NGOs before it expires.</a:t>
            </a:r>
          </a:p>
        </p:txBody>
      </p:sp>
      <p:sp>
        <p:nvSpPr>
          <p:cNvPr id="10" name="Rounded Rectangle 9"/>
          <p:cNvSpPr/>
          <p:nvPr/>
        </p:nvSpPr>
        <p:spPr>
          <a:xfrm>
            <a:off x="731520" y="4251960"/>
            <a:ext cx="1261872" cy="384048"/>
          </a:xfrm>
          <a:prstGeom prst="round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343400"/>
            <a:ext cx="1261872" cy="182880"/>
          </a:xfrm>
          <a:prstGeom prst="rect">
            <a:avLst/>
          </a:prstGeom>
          <a:noFill/>
        </p:spPr>
        <p:txBody>
          <a:bodyPr wrap="square" lIns="36576" tIns="36576" rIns="36576" bIns="36576" anchor="t">
            <a:spAutoFit/>
          </a:bodyPr>
          <a:lstStyle/>
          <a:p>
            <a:pPr algn="ctr">
              <a:spcAft>
                <a:spcPts val="0"/>
              </a:spcAft>
            </a:pPr>
            <a:r>
              <a:rPr sz="1000" b="1">
                <a:solidFill>
                  <a:srgbClr val="0A221C"/>
                </a:solidFill>
                <a:latin typeface="Aptos"/>
              </a:rPr>
              <a:t>DONORS</a:t>
            </a:r>
          </a:p>
        </p:txBody>
      </p:sp>
      <p:sp>
        <p:nvSpPr>
          <p:cNvPr id="12" name="Rounded Rectangle 11"/>
          <p:cNvSpPr/>
          <p:nvPr/>
        </p:nvSpPr>
        <p:spPr>
          <a:xfrm>
            <a:off x="2148840" y="4251960"/>
            <a:ext cx="1261872" cy="384048"/>
          </a:xfrm>
          <a:prstGeom prst="round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48840" y="4343400"/>
            <a:ext cx="1261872" cy="182880"/>
          </a:xfrm>
          <a:prstGeom prst="rect">
            <a:avLst/>
          </a:prstGeom>
          <a:noFill/>
        </p:spPr>
        <p:txBody>
          <a:bodyPr wrap="square" lIns="36576" tIns="36576" rIns="36576" bIns="36576" anchor="t">
            <a:spAutoFit/>
          </a:bodyPr>
          <a:lstStyle/>
          <a:p>
            <a:pPr algn="ctr">
              <a:spcAft>
                <a:spcPts val="0"/>
              </a:spcAft>
            </a:pPr>
            <a:r>
              <a:rPr sz="1000" b="1">
                <a:solidFill>
                  <a:srgbClr val="0A221C"/>
                </a:solidFill>
                <a:latin typeface="Aptos"/>
              </a:rPr>
              <a:t>NGOs</a:t>
            </a:r>
          </a:p>
        </p:txBody>
      </p:sp>
      <p:sp>
        <p:nvSpPr>
          <p:cNvPr id="14" name="Rounded Rectangle 13"/>
          <p:cNvSpPr/>
          <p:nvPr/>
        </p:nvSpPr>
        <p:spPr>
          <a:xfrm>
            <a:off x="3566160" y="4251960"/>
            <a:ext cx="1261872" cy="384048"/>
          </a:xfrm>
          <a:prstGeom prst="roundRect">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566160" y="4343400"/>
            <a:ext cx="1261872" cy="182880"/>
          </a:xfrm>
          <a:prstGeom prst="rect">
            <a:avLst/>
          </a:prstGeom>
          <a:noFill/>
        </p:spPr>
        <p:txBody>
          <a:bodyPr wrap="square" lIns="36576" tIns="36576" rIns="36576" bIns="36576" anchor="t">
            <a:spAutoFit/>
          </a:bodyPr>
          <a:lstStyle/>
          <a:p>
            <a:pPr algn="ctr">
              <a:spcAft>
                <a:spcPts val="0"/>
              </a:spcAft>
            </a:pPr>
            <a:r>
              <a:rPr sz="1000" b="1">
                <a:solidFill>
                  <a:srgbClr val="0A221C"/>
                </a:solidFill>
                <a:latin typeface="Aptos"/>
              </a:rPr>
              <a:t>REAL-TIME</a:t>
            </a:r>
          </a:p>
        </p:txBody>
      </p:sp>
      <p:sp>
        <p:nvSpPr>
          <p:cNvPr id="16" name="Rounded Rectangle 15"/>
          <p:cNvSpPr/>
          <p:nvPr/>
        </p:nvSpPr>
        <p:spPr>
          <a:xfrm>
            <a:off x="7315200" y="3977639"/>
            <a:ext cx="4069080" cy="160020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0" y="3977639"/>
            <a:ext cx="64008" cy="1600200"/>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516368" y="4178807"/>
            <a:ext cx="457200" cy="457200"/>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516368" y="423367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20" name="TextBox 19"/>
          <p:cNvSpPr txBox="1"/>
          <p:nvPr/>
        </p:nvSpPr>
        <p:spPr>
          <a:xfrm>
            <a:off x="8092440" y="4178807"/>
            <a:ext cx="310896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PROJECT SNAPSHOT</a:t>
            </a:r>
          </a:p>
        </p:txBody>
      </p:sp>
      <p:sp>
        <p:nvSpPr>
          <p:cNvPr id="21" name="TextBox 20"/>
          <p:cNvSpPr txBox="1"/>
          <p:nvPr/>
        </p:nvSpPr>
        <p:spPr>
          <a:xfrm>
            <a:off x="7543800" y="4672583"/>
            <a:ext cx="3611880" cy="82296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Problem domain: Food waste • Social impact • Web development
Team: [Add team member names]</a:t>
            </a:r>
          </a:p>
        </p:txBody>
      </p:sp>
      <p:sp>
        <p:nvSpPr>
          <p:cNvPr id="22" name="TextBox 21"/>
          <p:cNvSpPr txBox="1"/>
          <p:nvPr/>
        </p:nvSpPr>
        <p:spPr>
          <a:xfrm>
            <a:off x="731520" y="5806440"/>
            <a:ext cx="7315200" cy="320040"/>
          </a:xfrm>
          <a:prstGeom prst="rect">
            <a:avLst/>
          </a:prstGeom>
          <a:noFill/>
        </p:spPr>
        <p:txBody>
          <a:bodyPr wrap="square" lIns="36576" tIns="36576" rIns="36576" bIns="36576" anchor="t">
            <a:spAutoFit/>
          </a:bodyPr>
          <a:lstStyle/>
          <a:p>
            <a:pPr algn="l">
              <a:spcAft>
                <a:spcPts val="0"/>
              </a:spcAft>
            </a:pPr>
            <a:r>
              <a:rPr sz="1400" b="1">
                <a:solidFill>
                  <a:srgbClr val="F9F7EE"/>
                </a:solidFill>
                <a:latin typeface="Aptos"/>
              </a:rPr>
              <a:t>React UI  +  Node/Express APIs  +  MongoDB</a:t>
            </a:r>
          </a:p>
        </p:txBody>
      </p:sp>
      <p:sp>
        <p:nvSpPr>
          <p:cNvPr id="23" name="TextBox 22"/>
          <p:cNvSpPr txBox="1"/>
          <p:nvPr/>
        </p:nvSpPr>
        <p:spPr>
          <a:xfrm>
            <a:off x="594360" y="6510528"/>
            <a:ext cx="5486400" cy="164592"/>
          </a:xfrm>
          <a:prstGeom prst="rect">
            <a:avLst/>
          </a:prstGeom>
          <a:noFill/>
        </p:spPr>
        <p:txBody>
          <a:bodyPr wrap="square" lIns="36576" tIns="36576" rIns="36576" bIns="36576" anchor="t">
            <a:spAutoFit/>
          </a:bodyPr>
          <a:lstStyle/>
          <a:p>
            <a:pPr algn="l">
              <a:spcAft>
                <a:spcPts val="0"/>
              </a:spcAft>
            </a:pPr>
            <a:r>
              <a:rPr sz="800" b="1">
                <a:solidFill>
                  <a:srgbClr val="BBCFC1"/>
                </a:solidFill>
                <a:latin typeface="Aptos"/>
              </a:rPr>
              <a:t>FOODBRIDGE  •  FOOD FORWARD</a:t>
            </a:r>
          </a:p>
        </p:txBody>
      </p:sp>
      <p:sp>
        <p:nvSpPr>
          <p:cNvPr id="24" name="Oval 23"/>
          <p:cNvSpPr/>
          <p:nvPr/>
        </p:nvSpPr>
        <p:spPr>
          <a:xfrm>
            <a:off x="11018520" y="6492240"/>
            <a:ext cx="82296" cy="82296"/>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219688" y="6492240"/>
            <a:ext cx="82296" cy="82296"/>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11420856" y="6492240"/>
            <a:ext cx="82296" cy="82296"/>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221C"/>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9875520" cy="502920"/>
          </a:xfrm>
          <a:prstGeom prst="rect">
            <a:avLst/>
          </a:prstGeom>
          <a:noFill/>
        </p:spPr>
        <p:txBody>
          <a:bodyPr wrap="square" lIns="36576" tIns="36576" rIns="36576" bIns="36576" anchor="t">
            <a:spAutoFit/>
          </a:bodyPr>
          <a:lstStyle/>
          <a:p>
            <a:pPr algn="l">
              <a:spcAft>
                <a:spcPts val="0"/>
              </a:spcAft>
            </a:pPr>
            <a:r>
              <a:rPr sz="2700" b="1">
                <a:solidFill>
                  <a:srgbClr val="F9F7EE"/>
                </a:solidFill>
                <a:latin typeface="Aptos"/>
              </a:rPr>
              <a:t>The Challenge</a:t>
            </a:r>
          </a:p>
        </p:txBody>
      </p:sp>
      <p:sp>
        <p:nvSpPr>
          <p:cNvPr id="3" name="Rectangle 2"/>
          <p:cNvSpPr/>
          <p:nvPr/>
        </p:nvSpPr>
        <p:spPr>
          <a:xfrm>
            <a:off x="585216" y="932688"/>
            <a:ext cx="960120" cy="50292"/>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881360" y="347472"/>
            <a:ext cx="685800" cy="320040"/>
          </a:xfrm>
          <a:prstGeom prst="rect">
            <a:avLst/>
          </a:prstGeom>
          <a:noFill/>
        </p:spPr>
        <p:txBody>
          <a:bodyPr wrap="square" lIns="36576" tIns="36576" rIns="36576" bIns="36576" anchor="t">
            <a:spAutoFit/>
          </a:bodyPr>
          <a:lstStyle/>
          <a:p>
            <a:pPr algn="r">
              <a:spcAft>
                <a:spcPts val="0"/>
              </a:spcAft>
            </a:pPr>
            <a:r>
              <a:rPr sz="1000" b="1">
                <a:solidFill>
                  <a:srgbClr val="BBCFC1"/>
                </a:solidFill>
                <a:latin typeface="Aptos"/>
              </a:rPr>
              <a:t>02 / 07</a:t>
            </a:r>
          </a:p>
        </p:txBody>
      </p:sp>
      <p:sp>
        <p:nvSpPr>
          <p:cNvPr id="5" name="TextBox 4"/>
          <p:cNvSpPr txBox="1"/>
          <p:nvPr/>
        </p:nvSpPr>
        <p:spPr>
          <a:xfrm>
            <a:off x="640080" y="1188720"/>
            <a:ext cx="5120640" cy="640080"/>
          </a:xfrm>
          <a:prstGeom prst="rect">
            <a:avLst/>
          </a:prstGeom>
          <a:noFill/>
        </p:spPr>
        <p:txBody>
          <a:bodyPr wrap="square" lIns="36576" tIns="36576" rIns="36576" bIns="36576" anchor="t">
            <a:spAutoFit/>
          </a:bodyPr>
          <a:lstStyle/>
          <a:p>
            <a:pPr algn="l">
              <a:spcAft>
                <a:spcPts val="0"/>
              </a:spcAft>
            </a:pPr>
            <a:r>
              <a:rPr sz="2900" b="1">
                <a:solidFill>
                  <a:srgbClr val="FF8F42"/>
                </a:solidFill>
                <a:latin typeface="Aptos"/>
              </a:rPr>
              <a:t>Good food expires.
Need doesn’t.</a:t>
            </a:r>
          </a:p>
        </p:txBody>
      </p:sp>
      <p:sp>
        <p:nvSpPr>
          <p:cNvPr id="6" name="TextBox 5"/>
          <p:cNvSpPr txBox="1"/>
          <p:nvPr/>
        </p:nvSpPr>
        <p:spPr>
          <a:xfrm>
            <a:off x="658368" y="2514600"/>
            <a:ext cx="4754880" cy="411480"/>
          </a:xfrm>
          <a:prstGeom prst="rect">
            <a:avLst/>
          </a:prstGeom>
          <a:noFill/>
        </p:spPr>
        <p:txBody>
          <a:bodyPr wrap="square" lIns="36576" tIns="36576" rIns="36576" bIns="36576" anchor="t">
            <a:spAutoFit/>
          </a:bodyPr>
          <a:lstStyle/>
          <a:p>
            <a:pPr algn="l">
              <a:spcAft>
                <a:spcPts val="0"/>
              </a:spcAft>
            </a:pPr>
            <a:r>
              <a:rPr sz="1500" b="0">
                <a:solidFill>
                  <a:srgbClr val="BBCFC1"/>
                </a:solidFill>
                <a:latin typeface="Aptos"/>
              </a:rPr>
              <a:t>A coordination gap between surplus and hunger.</a:t>
            </a:r>
          </a:p>
        </p:txBody>
      </p:sp>
      <p:sp>
        <p:nvSpPr>
          <p:cNvPr id="7" name="Rounded Rectangle 6"/>
          <p:cNvSpPr/>
          <p:nvPr/>
        </p:nvSpPr>
        <p:spPr>
          <a:xfrm>
            <a:off x="5852160" y="1234440"/>
            <a:ext cx="5440680" cy="201168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17920" y="1536192"/>
            <a:ext cx="2377440" cy="731520"/>
          </a:xfrm>
          <a:prstGeom prst="rect">
            <a:avLst/>
          </a:prstGeom>
          <a:noFill/>
        </p:spPr>
        <p:txBody>
          <a:bodyPr wrap="square" lIns="36576" tIns="36576" rIns="36576" bIns="36576" anchor="t">
            <a:spAutoFit/>
          </a:bodyPr>
          <a:lstStyle/>
          <a:p>
            <a:pPr algn="l">
              <a:spcAft>
                <a:spcPts val="0"/>
              </a:spcAft>
            </a:pPr>
            <a:r>
              <a:rPr sz="4000" b="1">
                <a:solidFill>
                  <a:srgbClr val="AFE169"/>
                </a:solidFill>
                <a:latin typeface="Aptos"/>
              </a:rPr>
              <a:t>19%</a:t>
            </a:r>
          </a:p>
        </p:txBody>
      </p:sp>
      <p:sp>
        <p:nvSpPr>
          <p:cNvPr id="9" name="TextBox 8"/>
          <p:cNvSpPr txBox="1"/>
          <p:nvPr/>
        </p:nvSpPr>
        <p:spPr>
          <a:xfrm>
            <a:off x="8229600" y="1554480"/>
            <a:ext cx="2651760" cy="640080"/>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of food available to consumers was wasted in 2022</a:t>
            </a:r>
          </a:p>
        </p:txBody>
      </p:sp>
      <p:sp>
        <p:nvSpPr>
          <p:cNvPr id="10" name="TextBox 9"/>
          <p:cNvSpPr txBox="1"/>
          <p:nvPr/>
        </p:nvSpPr>
        <p:spPr>
          <a:xfrm>
            <a:off x="6236208" y="2514600"/>
            <a:ext cx="4572000" cy="320040"/>
          </a:xfrm>
          <a:prstGeom prst="rect">
            <a:avLst/>
          </a:prstGeom>
          <a:noFill/>
        </p:spPr>
        <p:txBody>
          <a:bodyPr wrap="square" lIns="36576" tIns="36576" rIns="36576" bIns="36576" anchor="t">
            <a:spAutoFit/>
          </a:bodyPr>
          <a:lstStyle/>
          <a:p>
            <a:pPr algn="l">
              <a:spcAft>
                <a:spcPts val="0"/>
              </a:spcAft>
            </a:pPr>
            <a:r>
              <a:rPr sz="1000" b="0">
                <a:solidFill>
                  <a:srgbClr val="BBCFC1"/>
                </a:solidFill>
                <a:latin typeface="Aptos"/>
              </a:rPr>
              <a:t>UNEP • Food Waste Index Report 2024</a:t>
            </a:r>
          </a:p>
        </p:txBody>
      </p:sp>
      <p:sp>
        <p:nvSpPr>
          <p:cNvPr id="11" name="Rounded Rectangle 10"/>
          <p:cNvSpPr/>
          <p:nvPr/>
        </p:nvSpPr>
        <p:spPr>
          <a:xfrm>
            <a:off x="640080" y="3703320"/>
            <a:ext cx="3429000" cy="14173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3703320"/>
            <a:ext cx="64008" cy="1417320"/>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41247" y="3904487"/>
            <a:ext cx="457200" cy="457200"/>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395935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15" name="TextBox 14"/>
          <p:cNvSpPr txBox="1"/>
          <p:nvPr/>
        </p:nvSpPr>
        <p:spPr>
          <a:xfrm>
            <a:off x="1417319" y="3904487"/>
            <a:ext cx="246888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HUNGER</a:t>
            </a:r>
          </a:p>
        </p:txBody>
      </p:sp>
      <p:sp>
        <p:nvSpPr>
          <p:cNvPr id="16" name="TextBox 15"/>
          <p:cNvSpPr txBox="1"/>
          <p:nvPr/>
        </p:nvSpPr>
        <p:spPr>
          <a:xfrm>
            <a:off x="868680" y="4398264"/>
            <a:ext cx="2971800" cy="64008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NGOs need timely, reliable supply.</a:t>
            </a:r>
          </a:p>
        </p:txBody>
      </p:sp>
      <p:sp>
        <p:nvSpPr>
          <p:cNvPr id="17" name="Rounded Rectangle 16"/>
          <p:cNvSpPr/>
          <p:nvPr/>
        </p:nvSpPr>
        <p:spPr>
          <a:xfrm>
            <a:off x="4389120" y="3703320"/>
            <a:ext cx="3429000" cy="14173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89120" y="3703320"/>
            <a:ext cx="64008" cy="1417320"/>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4590288" y="3904487"/>
            <a:ext cx="457200" cy="457200"/>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90288" y="395935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21" name="TextBox 20"/>
          <p:cNvSpPr txBox="1"/>
          <p:nvPr/>
        </p:nvSpPr>
        <p:spPr>
          <a:xfrm>
            <a:off x="5166359" y="3904487"/>
            <a:ext cx="246888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WASTE</a:t>
            </a:r>
          </a:p>
        </p:txBody>
      </p:sp>
      <p:sp>
        <p:nvSpPr>
          <p:cNvPr id="22" name="TextBox 21"/>
          <p:cNvSpPr txBox="1"/>
          <p:nvPr/>
        </p:nvSpPr>
        <p:spPr>
          <a:xfrm>
            <a:off x="4617720" y="4398264"/>
            <a:ext cx="2971800" cy="64008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Edible surplus gets discarded.</a:t>
            </a:r>
          </a:p>
        </p:txBody>
      </p:sp>
      <p:sp>
        <p:nvSpPr>
          <p:cNvPr id="23" name="Rounded Rectangle 22"/>
          <p:cNvSpPr/>
          <p:nvPr/>
        </p:nvSpPr>
        <p:spPr>
          <a:xfrm>
            <a:off x="8138160" y="3703320"/>
            <a:ext cx="3429000" cy="14173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138160" y="3703320"/>
            <a:ext cx="64008" cy="1417320"/>
          </a:xfrm>
          <a:prstGeom prst="rect">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8339328" y="3904487"/>
            <a:ext cx="457200" cy="457200"/>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39328" y="395935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27" name="TextBox 26"/>
          <p:cNvSpPr txBox="1"/>
          <p:nvPr/>
        </p:nvSpPr>
        <p:spPr>
          <a:xfrm>
            <a:off x="8915400" y="3904487"/>
            <a:ext cx="246888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CLIMATE</a:t>
            </a:r>
          </a:p>
        </p:txBody>
      </p:sp>
      <p:sp>
        <p:nvSpPr>
          <p:cNvPr id="28" name="TextBox 27"/>
          <p:cNvSpPr txBox="1"/>
          <p:nvPr/>
        </p:nvSpPr>
        <p:spPr>
          <a:xfrm>
            <a:off x="8366760" y="4398264"/>
            <a:ext cx="2971800" cy="64008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Waste adds avoidable emissions.</a:t>
            </a:r>
          </a:p>
        </p:txBody>
      </p:sp>
      <p:sp>
        <p:nvSpPr>
          <p:cNvPr id="29" name="TextBox 28"/>
          <p:cNvSpPr txBox="1"/>
          <p:nvPr/>
        </p:nvSpPr>
        <p:spPr>
          <a:xfrm>
            <a:off x="685800" y="5532120"/>
            <a:ext cx="10789920" cy="411480"/>
          </a:xfrm>
          <a:prstGeom prst="rect">
            <a:avLst/>
          </a:prstGeom>
          <a:noFill/>
        </p:spPr>
        <p:txBody>
          <a:bodyPr wrap="square" lIns="36576" tIns="36576" rIns="36576" bIns="36576" anchor="t">
            <a:spAutoFit/>
          </a:bodyPr>
          <a:lstStyle/>
          <a:p>
            <a:pPr algn="l">
              <a:spcAft>
                <a:spcPts val="0"/>
              </a:spcAft>
            </a:pPr>
            <a:r>
              <a:rPr sz="1400" b="1">
                <a:solidFill>
                  <a:srgbClr val="F9F7EE"/>
                </a:solidFill>
                <a:latin typeface="Aptos"/>
              </a:rPr>
              <a:t>Challenges: tight pickup windows  •  donor trust  •  double-booking  •  food safety</a:t>
            </a:r>
          </a:p>
        </p:txBody>
      </p:sp>
      <p:sp>
        <p:nvSpPr>
          <p:cNvPr id="30" name="TextBox 29"/>
          <p:cNvSpPr txBox="1"/>
          <p:nvPr/>
        </p:nvSpPr>
        <p:spPr>
          <a:xfrm>
            <a:off x="594360" y="6510528"/>
            <a:ext cx="5486400" cy="164592"/>
          </a:xfrm>
          <a:prstGeom prst="rect">
            <a:avLst/>
          </a:prstGeom>
          <a:noFill/>
        </p:spPr>
        <p:txBody>
          <a:bodyPr wrap="square" lIns="36576" tIns="36576" rIns="36576" bIns="36576" anchor="t">
            <a:spAutoFit/>
          </a:bodyPr>
          <a:lstStyle/>
          <a:p>
            <a:pPr algn="l">
              <a:spcAft>
                <a:spcPts val="0"/>
              </a:spcAft>
            </a:pPr>
            <a:r>
              <a:rPr sz="800" b="1">
                <a:solidFill>
                  <a:srgbClr val="BBCFC1"/>
                </a:solidFill>
                <a:latin typeface="Aptos"/>
              </a:rPr>
              <a:t>FOODBRIDGE  •  FOOD FORWARD</a:t>
            </a:r>
          </a:p>
        </p:txBody>
      </p:sp>
      <p:sp>
        <p:nvSpPr>
          <p:cNvPr id="31" name="Oval 30"/>
          <p:cNvSpPr/>
          <p:nvPr/>
        </p:nvSpPr>
        <p:spPr>
          <a:xfrm>
            <a:off x="11018520" y="6492240"/>
            <a:ext cx="82296" cy="82296"/>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11219688" y="6492240"/>
            <a:ext cx="82296" cy="82296"/>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1420856" y="6492240"/>
            <a:ext cx="82296" cy="82296"/>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0" y="6053328"/>
            <a:ext cx="3063240" cy="182880"/>
          </a:xfrm>
          <a:prstGeom prst="rect">
            <a:avLst/>
          </a:prstGeom>
          <a:noFill/>
        </p:spPr>
        <p:txBody>
          <a:bodyPr wrap="square" lIns="36576" tIns="36576" rIns="36576" bIns="36576" anchor="t">
            <a:spAutoFit/>
          </a:bodyPr>
          <a:lstStyle/>
          <a:p>
            <a:pPr algn="l">
              <a:spcAft>
                <a:spcPts val="0"/>
              </a:spcAft>
            </a:pPr>
            <a:r>
              <a:rPr sz="700" b="0">
                <a:solidFill>
                  <a:srgbClr val="BBCFC1"/>
                </a:solidFill>
                <a:latin typeface="Aptos"/>
                <a:hlinkClick r:id="rId3"/>
              </a:rPr>
              <a:t>Source: unep.org/resources/publication/food-waste-index-report-2024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221C"/>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9875520" cy="502920"/>
          </a:xfrm>
          <a:prstGeom prst="rect">
            <a:avLst/>
          </a:prstGeom>
          <a:noFill/>
        </p:spPr>
        <p:txBody>
          <a:bodyPr wrap="square" lIns="36576" tIns="36576" rIns="36576" bIns="36576" anchor="t">
            <a:spAutoFit/>
          </a:bodyPr>
          <a:lstStyle/>
          <a:p>
            <a:pPr algn="l">
              <a:spcAft>
                <a:spcPts val="0"/>
              </a:spcAft>
            </a:pPr>
            <a:r>
              <a:rPr sz="2700" b="1">
                <a:solidFill>
                  <a:srgbClr val="F9F7EE"/>
                </a:solidFill>
                <a:latin typeface="Aptos"/>
              </a:rPr>
              <a:t>Our Innovation</a:t>
            </a:r>
          </a:p>
        </p:txBody>
      </p:sp>
      <p:sp>
        <p:nvSpPr>
          <p:cNvPr id="3" name="Rectangle 2"/>
          <p:cNvSpPr/>
          <p:nvPr/>
        </p:nvSpPr>
        <p:spPr>
          <a:xfrm>
            <a:off x="585216" y="932688"/>
            <a:ext cx="960120" cy="50292"/>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881360" y="347472"/>
            <a:ext cx="685800" cy="320040"/>
          </a:xfrm>
          <a:prstGeom prst="rect">
            <a:avLst/>
          </a:prstGeom>
          <a:noFill/>
        </p:spPr>
        <p:txBody>
          <a:bodyPr wrap="square" lIns="36576" tIns="36576" rIns="36576" bIns="36576" anchor="t">
            <a:spAutoFit/>
          </a:bodyPr>
          <a:lstStyle/>
          <a:p>
            <a:pPr algn="r">
              <a:spcAft>
                <a:spcPts val="0"/>
              </a:spcAft>
            </a:pPr>
            <a:r>
              <a:rPr sz="1000" b="1">
                <a:solidFill>
                  <a:srgbClr val="BBCFC1"/>
                </a:solidFill>
                <a:latin typeface="Aptos"/>
              </a:rPr>
              <a:t>03 / 07</a:t>
            </a:r>
          </a:p>
        </p:txBody>
      </p:sp>
      <p:sp>
        <p:nvSpPr>
          <p:cNvPr id="5" name="TextBox 4"/>
          <p:cNvSpPr txBox="1"/>
          <p:nvPr/>
        </p:nvSpPr>
        <p:spPr>
          <a:xfrm>
            <a:off x="658368" y="1170432"/>
            <a:ext cx="4663440" cy="548640"/>
          </a:xfrm>
          <a:prstGeom prst="rect">
            <a:avLst/>
          </a:prstGeom>
          <a:noFill/>
        </p:spPr>
        <p:txBody>
          <a:bodyPr wrap="square" lIns="36576" tIns="36576" rIns="36576" bIns="36576" anchor="t">
            <a:spAutoFit/>
          </a:bodyPr>
          <a:lstStyle/>
          <a:p>
            <a:pPr algn="l">
              <a:spcAft>
                <a:spcPts val="0"/>
              </a:spcAft>
            </a:pPr>
            <a:r>
              <a:rPr sz="2500" b="1">
                <a:solidFill>
                  <a:srgbClr val="F9F7EE"/>
                </a:solidFill>
                <a:latin typeface="Aptos"/>
              </a:rPr>
              <a:t>Two roles. One trusted flow.</a:t>
            </a:r>
          </a:p>
        </p:txBody>
      </p:sp>
      <p:sp>
        <p:nvSpPr>
          <p:cNvPr id="6" name="Rounded Rectangle 5"/>
          <p:cNvSpPr/>
          <p:nvPr/>
        </p:nvSpPr>
        <p:spPr>
          <a:xfrm>
            <a:off x="685800" y="1965960"/>
            <a:ext cx="2834640" cy="14173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965960"/>
            <a:ext cx="64008" cy="1417320"/>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886968" y="2167128"/>
            <a:ext cx="457200" cy="457200"/>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86968" y="2221991"/>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10" name="TextBox 9"/>
          <p:cNvSpPr txBox="1"/>
          <p:nvPr/>
        </p:nvSpPr>
        <p:spPr>
          <a:xfrm>
            <a:off x="1463040" y="2167128"/>
            <a:ext cx="1874519"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DONOR</a:t>
            </a:r>
          </a:p>
        </p:txBody>
      </p:sp>
      <p:sp>
        <p:nvSpPr>
          <p:cNvPr id="11" name="TextBox 10"/>
          <p:cNvSpPr txBox="1"/>
          <p:nvPr/>
        </p:nvSpPr>
        <p:spPr>
          <a:xfrm>
            <a:off x="914400" y="2660904"/>
            <a:ext cx="2377440" cy="64008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Post surplus with quantity,
location &amp; time.</a:t>
            </a:r>
          </a:p>
        </p:txBody>
      </p:sp>
      <p:sp>
        <p:nvSpPr>
          <p:cNvPr id="12" name="Rounded Rectangle 11"/>
          <p:cNvSpPr/>
          <p:nvPr/>
        </p:nvSpPr>
        <p:spPr>
          <a:xfrm>
            <a:off x="8641080" y="1965960"/>
            <a:ext cx="2834640" cy="14173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641080" y="1965960"/>
            <a:ext cx="64008" cy="1417320"/>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842248" y="2167128"/>
            <a:ext cx="457200" cy="457200"/>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42248" y="2221991"/>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16" name="TextBox 15"/>
          <p:cNvSpPr txBox="1"/>
          <p:nvPr/>
        </p:nvSpPr>
        <p:spPr>
          <a:xfrm>
            <a:off x="9418319" y="2167128"/>
            <a:ext cx="187452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NGO</a:t>
            </a:r>
          </a:p>
        </p:txBody>
      </p:sp>
      <p:sp>
        <p:nvSpPr>
          <p:cNvPr id="17" name="TextBox 16"/>
          <p:cNvSpPr txBox="1"/>
          <p:nvPr/>
        </p:nvSpPr>
        <p:spPr>
          <a:xfrm>
            <a:off x="8869680" y="2660904"/>
            <a:ext cx="2377440" cy="64008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Discover, reserve &amp; collect.</a:t>
            </a:r>
          </a:p>
        </p:txBody>
      </p:sp>
      <p:sp>
        <p:nvSpPr>
          <p:cNvPr id="18" name="Rounded Rectangle 17"/>
          <p:cNvSpPr/>
          <p:nvPr/>
        </p:nvSpPr>
        <p:spPr>
          <a:xfrm>
            <a:off x="4114800" y="1874519"/>
            <a:ext cx="3749039" cy="160020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370832" y="2139696"/>
            <a:ext cx="3246120" cy="384048"/>
          </a:xfrm>
          <a:prstGeom prst="rect">
            <a:avLst/>
          </a:prstGeom>
          <a:noFill/>
        </p:spPr>
        <p:txBody>
          <a:bodyPr wrap="square" lIns="36576" tIns="36576" rIns="36576" bIns="36576" anchor="t">
            <a:spAutoFit/>
          </a:bodyPr>
          <a:lstStyle/>
          <a:p>
            <a:pPr algn="ctr">
              <a:spcAft>
                <a:spcPts val="0"/>
              </a:spcAft>
            </a:pPr>
            <a:r>
              <a:rPr sz="1600" b="1">
                <a:solidFill>
                  <a:srgbClr val="AFE169"/>
                </a:solidFill>
                <a:latin typeface="Aptos"/>
              </a:rPr>
              <a:t>LIVE FOOD LISTINGS</a:t>
            </a:r>
          </a:p>
        </p:txBody>
      </p:sp>
      <p:sp>
        <p:nvSpPr>
          <p:cNvPr id="20" name="TextBox 19"/>
          <p:cNvSpPr txBox="1"/>
          <p:nvPr/>
        </p:nvSpPr>
        <p:spPr>
          <a:xfrm>
            <a:off x="4389120" y="2688336"/>
            <a:ext cx="3200400" cy="457200"/>
          </a:xfrm>
          <a:prstGeom prst="rect">
            <a:avLst/>
          </a:prstGeom>
          <a:noFill/>
        </p:spPr>
        <p:txBody>
          <a:bodyPr wrap="square" lIns="36576" tIns="36576" rIns="36576" bIns="36576" anchor="t">
            <a:spAutoFit/>
          </a:bodyPr>
          <a:lstStyle/>
          <a:p>
            <a:pPr algn="ctr">
              <a:spcAft>
                <a:spcPts val="0"/>
              </a:spcAft>
            </a:pPr>
            <a:r>
              <a:rPr sz="1300" b="0">
                <a:solidFill>
                  <a:srgbClr val="F9F7EE"/>
                </a:solidFill>
                <a:latin typeface="Aptos"/>
              </a:rPr>
              <a:t>Search • Filters • Status</a:t>
            </a:r>
          </a:p>
        </p:txBody>
      </p:sp>
      <p:cxnSp>
        <p:nvCxnSpPr>
          <p:cNvPr id="21" name="Connector 20"/>
          <p:cNvCxnSpPr/>
          <p:nvPr/>
        </p:nvCxnSpPr>
        <p:spPr>
          <a:xfrm>
            <a:off x="3566160" y="2651760"/>
            <a:ext cx="457200" cy="0"/>
          </a:xfrm>
          <a:prstGeom prst="line">
            <a:avLst/>
          </a:prstGeom>
          <a:ln w="31750">
            <a:solidFill>
              <a:srgbClr val="30B57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909560" y="2651760"/>
            <a:ext cx="640080" cy="0"/>
          </a:xfrm>
          <a:prstGeom prst="line">
            <a:avLst/>
          </a:prstGeom>
          <a:ln w="31750">
            <a:solidFill>
              <a:srgbClr val="FF8F42"/>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31520" y="3977639"/>
            <a:ext cx="2194560" cy="274320"/>
          </a:xfrm>
          <a:prstGeom prst="rect">
            <a:avLst/>
          </a:prstGeom>
          <a:noFill/>
        </p:spPr>
        <p:txBody>
          <a:bodyPr wrap="square" lIns="36576" tIns="36576" rIns="36576" bIns="36576" anchor="t">
            <a:spAutoFit/>
          </a:bodyPr>
          <a:lstStyle/>
          <a:p>
            <a:pPr algn="l">
              <a:spcAft>
                <a:spcPts val="0"/>
              </a:spcAft>
            </a:pPr>
            <a:r>
              <a:rPr sz="1000" b="1">
                <a:solidFill>
                  <a:srgbClr val="BBCFC1"/>
                </a:solidFill>
                <a:latin typeface="Aptos"/>
              </a:rPr>
              <a:t>STATUS LIFECYCLE</a:t>
            </a:r>
          </a:p>
        </p:txBody>
      </p:sp>
      <p:sp>
        <p:nvSpPr>
          <p:cNvPr id="24" name="Rounded Rectangle 23"/>
          <p:cNvSpPr/>
          <p:nvPr/>
        </p:nvSpPr>
        <p:spPr>
          <a:xfrm>
            <a:off x="731520" y="4389120"/>
            <a:ext cx="2514600" cy="594360"/>
          </a:xfrm>
          <a:prstGeom prst="round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4553712"/>
            <a:ext cx="2514600" cy="228600"/>
          </a:xfrm>
          <a:prstGeom prst="rect">
            <a:avLst/>
          </a:prstGeom>
          <a:noFill/>
        </p:spPr>
        <p:txBody>
          <a:bodyPr wrap="square" lIns="36576" tIns="36576" rIns="36576" bIns="36576" anchor="t">
            <a:spAutoFit/>
          </a:bodyPr>
          <a:lstStyle/>
          <a:p>
            <a:pPr algn="ctr">
              <a:spcAft>
                <a:spcPts val="0"/>
              </a:spcAft>
            </a:pPr>
            <a:r>
              <a:rPr sz="1300" b="1">
                <a:solidFill>
                  <a:srgbClr val="0A221C"/>
                </a:solidFill>
                <a:latin typeface="Aptos"/>
              </a:rPr>
              <a:t>AVAILABLE</a:t>
            </a:r>
          </a:p>
        </p:txBody>
      </p:sp>
      <p:cxnSp>
        <p:nvCxnSpPr>
          <p:cNvPr id="26" name="Connector 25"/>
          <p:cNvCxnSpPr/>
          <p:nvPr/>
        </p:nvCxnSpPr>
        <p:spPr>
          <a:xfrm>
            <a:off x="3337560" y="4681728"/>
            <a:ext cx="914400" cy="0"/>
          </a:xfrm>
          <a:prstGeom prst="line">
            <a:avLst/>
          </a:prstGeom>
          <a:ln w="19050">
            <a:solidFill>
              <a:srgbClr val="F9F7EE"/>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480559" y="4389120"/>
            <a:ext cx="2514600" cy="594360"/>
          </a:xfrm>
          <a:prstGeom prst="round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59" y="4553712"/>
            <a:ext cx="2514600" cy="228600"/>
          </a:xfrm>
          <a:prstGeom prst="rect">
            <a:avLst/>
          </a:prstGeom>
          <a:noFill/>
        </p:spPr>
        <p:txBody>
          <a:bodyPr wrap="square" lIns="36576" tIns="36576" rIns="36576" bIns="36576" anchor="t">
            <a:spAutoFit/>
          </a:bodyPr>
          <a:lstStyle/>
          <a:p>
            <a:pPr algn="ctr">
              <a:spcAft>
                <a:spcPts val="0"/>
              </a:spcAft>
            </a:pPr>
            <a:r>
              <a:rPr sz="1300" b="1">
                <a:solidFill>
                  <a:srgbClr val="0A221C"/>
                </a:solidFill>
                <a:latin typeface="Aptos"/>
              </a:rPr>
              <a:t>RESERVED</a:t>
            </a:r>
          </a:p>
        </p:txBody>
      </p:sp>
      <p:cxnSp>
        <p:nvCxnSpPr>
          <p:cNvPr id="29" name="Connector 28"/>
          <p:cNvCxnSpPr/>
          <p:nvPr/>
        </p:nvCxnSpPr>
        <p:spPr>
          <a:xfrm>
            <a:off x="7086600" y="4681728"/>
            <a:ext cx="914400" cy="0"/>
          </a:xfrm>
          <a:prstGeom prst="line">
            <a:avLst/>
          </a:prstGeom>
          <a:ln w="19050">
            <a:solidFill>
              <a:srgbClr val="F9F7EE"/>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229600" y="4389120"/>
            <a:ext cx="2514600" cy="594360"/>
          </a:xfrm>
          <a:prstGeom prst="roundRect">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600" y="4553712"/>
            <a:ext cx="2514600" cy="228600"/>
          </a:xfrm>
          <a:prstGeom prst="rect">
            <a:avLst/>
          </a:prstGeom>
          <a:noFill/>
        </p:spPr>
        <p:txBody>
          <a:bodyPr wrap="square" lIns="36576" tIns="36576" rIns="36576" bIns="36576" anchor="t">
            <a:spAutoFit/>
          </a:bodyPr>
          <a:lstStyle/>
          <a:p>
            <a:pPr algn="ctr">
              <a:spcAft>
                <a:spcPts val="0"/>
              </a:spcAft>
            </a:pPr>
            <a:r>
              <a:rPr sz="1300" b="1">
                <a:solidFill>
                  <a:srgbClr val="0A221C"/>
                </a:solidFill>
                <a:latin typeface="Aptos"/>
              </a:rPr>
              <a:t>COLLECTED</a:t>
            </a:r>
          </a:p>
        </p:txBody>
      </p:sp>
      <p:sp>
        <p:nvSpPr>
          <p:cNvPr id="32" name="Rounded Rectangle 31"/>
          <p:cNvSpPr/>
          <p:nvPr/>
        </p:nvSpPr>
        <p:spPr>
          <a:xfrm>
            <a:off x="731520" y="5349240"/>
            <a:ext cx="3337560" cy="68580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731520" y="5349240"/>
            <a:ext cx="64008" cy="685800"/>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932688" y="5550407"/>
            <a:ext cx="457200" cy="457200"/>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32688" y="560527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36" name="TextBox 35"/>
          <p:cNvSpPr txBox="1"/>
          <p:nvPr/>
        </p:nvSpPr>
        <p:spPr>
          <a:xfrm>
            <a:off x="1508760" y="5550407"/>
            <a:ext cx="2377439"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JWT + bcrypt</a:t>
            </a:r>
          </a:p>
        </p:txBody>
      </p:sp>
      <p:sp>
        <p:nvSpPr>
          <p:cNvPr id="37" name="TextBox 36"/>
          <p:cNvSpPr txBox="1"/>
          <p:nvPr/>
        </p:nvSpPr>
        <p:spPr>
          <a:xfrm>
            <a:off x="960120" y="6044183"/>
            <a:ext cx="2880360" cy="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Secure sign-in &amp; role access</a:t>
            </a:r>
          </a:p>
        </p:txBody>
      </p:sp>
      <p:sp>
        <p:nvSpPr>
          <p:cNvPr id="38" name="Rounded Rectangle 37"/>
          <p:cNvSpPr/>
          <p:nvPr/>
        </p:nvSpPr>
        <p:spPr>
          <a:xfrm>
            <a:off x="4434840" y="5349240"/>
            <a:ext cx="3337560" cy="68580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4434840" y="5349240"/>
            <a:ext cx="64008" cy="685800"/>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4636007" y="5550407"/>
            <a:ext cx="457200" cy="457200"/>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636007" y="560527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42" name="TextBox 41"/>
          <p:cNvSpPr txBox="1"/>
          <p:nvPr/>
        </p:nvSpPr>
        <p:spPr>
          <a:xfrm>
            <a:off x="5212079" y="5550407"/>
            <a:ext cx="237744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Expiry guard</a:t>
            </a:r>
          </a:p>
        </p:txBody>
      </p:sp>
      <p:sp>
        <p:nvSpPr>
          <p:cNvPr id="43" name="TextBox 42"/>
          <p:cNvSpPr txBox="1"/>
          <p:nvPr/>
        </p:nvSpPr>
        <p:spPr>
          <a:xfrm>
            <a:off x="4663440" y="6044183"/>
            <a:ext cx="2880360" cy="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Expired food cannot be claimed</a:t>
            </a:r>
          </a:p>
        </p:txBody>
      </p:sp>
      <p:sp>
        <p:nvSpPr>
          <p:cNvPr id="44" name="Rounded Rectangle 43"/>
          <p:cNvSpPr/>
          <p:nvPr/>
        </p:nvSpPr>
        <p:spPr>
          <a:xfrm>
            <a:off x="8138160" y="5349240"/>
            <a:ext cx="3337560" cy="68580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138160" y="5349240"/>
            <a:ext cx="64008" cy="685800"/>
          </a:xfrm>
          <a:prstGeom prst="rect">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339328" y="5550407"/>
            <a:ext cx="457200" cy="457200"/>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339328" y="560527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48" name="TextBox 47"/>
          <p:cNvSpPr txBox="1"/>
          <p:nvPr/>
        </p:nvSpPr>
        <p:spPr>
          <a:xfrm>
            <a:off x="8915400" y="5550407"/>
            <a:ext cx="237744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Atomic reserve</a:t>
            </a:r>
          </a:p>
        </p:txBody>
      </p:sp>
      <p:sp>
        <p:nvSpPr>
          <p:cNvPr id="49" name="TextBox 48"/>
          <p:cNvSpPr txBox="1"/>
          <p:nvPr/>
        </p:nvSpPr>
        <p:spPr>
          <a:xfrm>
            <a:off x="8366760" y="6044183"/>
            <a:ext cx="2880360" cy="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Only one NGO can claim it</a:t>
            </a:r>
          </a:p>
        </p:txBody>
      </p:sp>
      <p:sp>
        <p:nvSpPr>
          <p:cNvPr id="50" name="TextBox 49"/>
          <p:cNvSpPr txBox="1"/>
          <p:nvPr/>
        </p:nvSpPr>
        <p:spPr>
          <a:xfrm>
            <a:off x="594360" y="6510528"/>
            <a:ext cx="5486400" cy="164592"/>
          </a:xfrm>
          <a:prstGeom prst="rect">
            <a:avLst/>
          </a:prstGeom>
          <a:noFill/>
        </p:spPr>
        <p:txBody>
          <a:bodyPr wrap="square" lIns="36576" tIns="36576" rIns="36576" bIns="36576" anchor="t">
            <a:spAutoFit/>
          </a:bodyPr>
          <a:lstStyle/>
          <a:p>
            <a:pPr algn="l">
              <a:spcAft>
                <a:spcPts val="0"/>
              </a:spcAft>
            </a:pPr>
            <a:r>
              <a:rPr sz="800" b="1">
                <a:solidFill>
                  <a:srgbClr val="BBCFC1"/>
                </a:solidFill>
                <a:latin typeface="Aptos"/>
              </a:rPr>
              <a:t>FOODBRIDGE  •  FOOD FORWARD</a:t>
            </a:r>
          </a:p>
        </p:txBody>
      </p:sp>
      <p:sp>
        <p:nvSpPr>
          <p:cNvPr id="51" name="Oval 50"/>
          <p:cNvSpPr/>
          <p:nvPr/>
        </p:nvSpPr>
        <p:spPr>
          <a:xfrm>
            <a:off x="11018520" y="6492240"/>
            <a:ext cx="82296" cy="82296"/>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Oval 51"/>
          <p:cNvSpPr/>
          <p:nvPr/>
        </p:nvSpPr>
        <p:spPr>
          <a:xfrm>
            <a:off x="11219688" y="6492240"/>
            <a:ext cx="82296" cy="82296"/>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Oval 52"/>
          <p:cNvSpPr/>
          <p:nvPr/>
        </p:nvSpPr>
        <p:spPr>
          <a:xfrm>
            <a:off x="11420856" y="6492240"/>
            <a:ext cx="82296" cy="82296"/>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221C"/>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9875520" cy="502920"/>
          </a:xfrm>
          <a:prstGeom prst="rect">
            <a:avLst/>
          </a:prstGeom>
          <a:noFill/>
        </p:spPr>
        <p:txBody>
          <a:bodyPr wrap="square" lIns="36576" tIns="36576" rIns="36576" bIns="36576" anchor="t">
            <a:spAutoFit/>
          </a:bodyPr>
          <a:lstStyle/>
          <a:p>
            <a:pPr algn="l">
              <a:spcAft>
                <a:spcPts val="0"/>
              </a:spcAft>
            </a:pPr>
            <a:r>
              <a:rPr sz="2700" b="1">
                <a:solidFill>
                  <a:srgbClr val="F9F7EE"/>
                </a:solidFill>
                <a:latin typeface="Aptos"/>
              </a:rPr>
              <a:t>How It Works</a:t>
            </a:r>
          </a:p>
        </p:txBody>
      </p:sp>
      <p:sp>
        <p:nvSpPr>
          <p:cNvPr id="3" name="Rectangle 2"/>
          <p:cNvSpPr/>
          <p:nvPr/>
        </p:nvSpPr>
        <p:spPr>
          <a:xfrm>
            <a:off x="585216" y="932688"/>
            <a:ext cx="960120" cy="50292"/>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881360" y="347472"/>
            <a:ext cx="685800" cy="320040"/>
          </a:xfrm>
          <a:prstGeom prst="rect">
            <a:avLst/>
          </a:prstGeom>
          <a:noFill/>
        </p:spPr>
        <p:txBody>
          <a:bodyPr wrap="square" lIns="36576" tIns="36576" rIns="36576" bIns="36576" anchor="t">
            <a:spAutoFit/>
          </a:bodyPr>
          <a:lstStyle/>
          <a:p>
            <a:pPr algn="r">
              <a:spcAft>
                <a:spcPts val="0"/>
              </a:spcAft>
            </a:pPr>
            <a:r>
              <a:rPr sz="1000" b="1">
                <a:solidFill>
                  <a:srgbClr val="BBCFC1"/>
                </a:solidFill>
                <a:latin typeface="Aptos"/>
              </a:rPr>
              <a:t>04 / 07</a:t>
            </a:r>
          </a:p>
        </p:txBody>
      </p:sp>
      <p:sp>
        <p:nvSpPr>
          <p:cNvPr id="5" name="TextBox 4"/>
          <p:cNvSpPr txBox="1"/>
          <p:nvPr/>
        </p:nvSpPr>
        <p:spPr>
          <a:xfrm>
            <a:off x="658368" y="1143000"/>
            <a:ext cx="10515600" cy="365760"/>
          </a:xfrm>
          <a:prstGeom prst="rect">
            <a:avLst/>
          </a:prstGeom>
          <a:noFill/>
        </p:spPr>
        <p:txBody>
          <a:bodyPr wrap="square" lIns="36576" tIns="36576" rIns="36576" bIns="36576" anchor="t">
            <a:spAutoFit/>
          </a:bodyPr>
          <a:lstStyle/>
          <a:p>
            <a:pPr algn="l">
              <a:spcAft>
                <a:spcPts val="0"/>
              </a:spcAft>
            </a:pPr>
            <a:r>
              <a:rPr sz="1700" b="0">
                <a:solidFill>
                  <a:srgbClr val="BBCFC1"/>
                </a:solidFill>
                <a:latin typeface="Aptos"/>
              </a:rPr>
              <a:t>From donation post to confirmed pickup</a:t>
            </a:r>
          </a:p>
        </p:txBody>
      </p:sp>
      <p:sp>
        <p:nvSpPr>
          <p:cNvPr id="6" name="Rounded Rectangle 5"/>
          <p:cNvSpPr/>
          <p:nvPr/>
        </p:nvSpPr>
        <p:spPr>
          <a:xfrm>
            <a:off x="594360" y="1920240"/>
            <a:ext cx="2331720" cy="1874519"/>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399032" y="1627632"/>
            <a:ext cx="658368" cy="658368"/>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99032" y="1810512"/>
            <a:ext cx="658368" cy="228600"/>
          </a:xfrm>
          <a:prstGeom prst="rect">
            <a:avLst/>
          </a:prstGeom>
          <a:noFill/>
        </p:spPr>
        <p:txBody>
          <a:bodyPr wrap="square" lIns="36576" tIns="36576" rIns="36576" bIns="36576" anchor="t">
            <a:spAutoFit/>
          </a:bodyPr>
          <a:lstStyle/>
          <a:p>
            <a:pPr algn="ctr">
              <a:spcAft>
                <a:spcPts val="0"/>
              </a:spcAft>
            </a:pPr>
            <a:r>
              <a:rPr sz="1400" b="1">
                <a:solidFill>
                  <a:srgbClr val="0A221C"/>
                </a:solidFill>
                <a:latin typeface="Aptos"/>
              </a:rPr>
              <a:t>01</a:t>
            </a:r>
          </a:p>
        </p:txBody>
      </p:sp>
      <p:sp>
        <p:nvSpPr>
          <p:cNvPr id="9" name="TextBox 8"/>
          <p:cNvSpPr txBox="1"/>
          <p:nvPr/>
        </p:nvSpPr>
        <p:spPr>
          <a:xfrm>
            <a:off x="758952" y="2423160"/>
            <a:ext cx="2011680" cy="274320"/>
          </a:xfrm>
          <a:prstGeom prst="rect">
            <a:avLst/>
          </a:prstGeom>
          <a:noFill/>
        </p:spPr>
        <p:txBody>
          <a:bodyPr wrap="square" lIns="36576" tIns="36576" rIns="36576" bIns="36576" anchor="t">
            <a:spAutoFit/>
          </a:bodyPr>
          <a:lstStyle/>
          <a:p>
            <a:pPr algn="ctr">
              <a:spcAft>
                <a:spcPts val="0"/>
              </a:spcAft>
            </a:pPr>
            <a:r>
              <a:rPr sz="1500" b="1">
                <a:solidFill>
                  <a:srgbClr val="F9F7EE"/>
                </a:solidFill>
                <a:latin typeface="Aptos"/>
              </a:rPr>
              <a:t>Donor posts</a:t>
            </a:r>
          </a:p>
        </p:txBody>
      </p:sp>
      <p:sp>
        <p:nvSpPr>
          <p:cNvPr id="10" name="TextBox 9"/>
          <p:cNvSpPr txBox="1"/>
          <p:nvPr/>
        </p:nvSpPr>
        <p:spPr>
          <a:xfrm>
            <a:off x="758952" y="2852928"/>
            <a:ext cx="2011680" cy="640080"/>
          </a:xfrm>
          <a:prstGeom prst="rect">
            <a:avLst/>
          </a:prstGeom>
          <a:noFill/>
        </p:spPr>
        <p:txBody>
          <a:bodyPr wrap="square" lIns="36576" tIns="36576" rIns="36576" bIns="36576" anchor="t">
            <a:spAutoFit/>
          </a:bodyPr>
          <a:lstStyle/>
          <a:p>
            <a:pPr algn="ctr">
              <a:spcAft>
                <a:spcPts val="0"/>
              </a:spcAft>
            </a:pPr>
            <a:r>
              <a:rPr sz="1100" b="0">
                <a:solidFill>
                  <a:srgbClr val="BBCFC1"/>
                </a:solidFill>
                <a:latin typeface="Aptos"/>
              </a:rPr>
              <a:t>Name • quantity
Location • pickup/expiry</a:t>
            </a:r>
          </a:p>
        </p:txBody>
      </p:sp>
      <p:sp>
        <p:nvSpPr>
          <p:cNvPr id="11" name="Rounded Rectangle 10"/>
          <p:cNvSpPr/>
          <p:nvPr/>
        </p:nvSpPr>
        <p:spPr>
          <a:xfrm>
            <a:off x="3474720" y="1920240"/>
            <a:ext cx="2331720" cy="1874519"/>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4279392" y="1627632"/>
            <a:ext cx="658368" cy="658368"/>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79392" y="1810512"/>
            <a:ext cx="658368" cy="228600"/>
          </a:xfrm>
          <a:prstGeom prst="rect">
            <a:avLst/>
          </a:prstGeom>
          <a:noFill/>
        </p:spPr>
        <p:txBody>
          <a:bodyPr wrap="square" lIns="36576" tIns="36576" rIns="36576" bIns="36576" anchor="t">
            <a:spAutoFit/>
          </a:bodyPr>
          <a:lstStyle/>
          <a:p>
            <a:pPr algn="ctr">
              <a:spcAft>
                <a:spcPts val="0"/>
              </a:spcAft>
            </a:pPr>
            <a:r>
              <a:rPr sz="1400" b="1">
                <a:solidFill>
                  <a:srgbClr val="0A221C"/>
                </a:solidFill>
                <a:latin typeface="Aptos"/>
              </a:rPr>
              <a:t>02</a:t>
            </a:r>
          </a:p>
        </p:txBody>
      </p:sp>
      <p:sp>
        <p:nvSpPr>
          <p:cNvPr id="14" name="TextBox 13"/>
          <p:cNvSpPr txBox="1"/>
          <p:nvPr/>
        </p:nvSpPr>
        <p:spPr>
          <a:xfrm>
            <a:off x="3639312" y="2423160"/>
            <a:ext cx="2011680" cy="274320"/>
          </a:xfrm>
          <a:prstGeom prst="rect">
            <a:avLst/>
          </a:prstGeom>
          <a:noFill/>
        </p:spPr>
        <p:txBody>
          <a:bodyPr wrap="square" lIns="36576" tIns="36576" rIns="36576" bIns="36576" anchor="t">
            <a:spAutoFit/>
          </a:bodyPr>
          <a:lstStyle/>
          <a:p>
            <a:pPr algn="ctr">
              <a:spcAft>
                <a:spcPts val="0"/>
              </a:spcAft>
            </a:pPr>
            <a:r>
              <a:rPr sz="1500" b="1">
                <a:solidFill>
                  <a:srgbClr val="F9F7EE"/>
                </a:solidFill>
                <a:latin typeface="Aptos"/>
              </a:rPr>
              <a:t>Validate + save</a:t>
            </a:r>
          </a:p>
        </p:txBody>
      </p:sp>
      <p:sp>
        <p:nvSpPr>
          <p:cNvPr id="15" name="TextBox 14"/>
          <p:cNvSpPr txBox="1"/>
          <p:nvPr/>
        </p:nvSpPr>
        <p:spPr>
          <a:xfrm>
            <a:off x="3639312" y="2852928"/>
            <a:ext cx="2011680" cy="640080"/>
          </a:xfrm>
          <a:prstGeom prst="rect">
            <a:avLst/>
          </a:prstGeom>
          <a:noFill/>
        </p:spPr>
        <p:txBody>
          <a:bodyPr wrap="square" lIns="36576" tIns="36576" rIns="36576" bIns="36576" anchor="t">
            <a:spAutoFit/>
          </a:bodyPr>
          <a:lstStyle/>
          <a:p>
            <a:pPr algn="ctr">
              <a:spcAft>
                <a:spcPts val="0"/>
              </a:spcAft>
            </a:pPr>
            <a:r>
              <a:rPr sz="1100" b="0">
                <a:solidFill>
                  <a:srgbClr val="BBCFC1"/>
                </a:solidFill>
                <a:latin typeface="Aptos"/>
              </a:rPr>
              <a:t>Required fields
MongoDB document</a:t>
            </a:r>
          </a:p>
        </p:txBody>
      </p:sp>
      <p:sp>
        <p:nvSpPr>
          <p:cNvPr id="16" name="Rounded Rectangle 15"/>
          <p:cNvSpPr/>
          <p:nvPr/>
        </p:nvSpPr>
        <p:spPr>
          <a:xfrm>
            <a:off x="6355080" y="1920240"/>
            <a:ext cx="2331720" cy="1874519"/>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159752" y="1627632"/>
            <a:ext cx="658368" cy="658368"/>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59752" y="1810512"/>
            <a:ext cx="658368" cy="228600"/>
          </a:xfrm>
          <a:prstGeom prst="rect">
            <a:avLst/>
          </a:prstGeom>
          <a:noFill/>
        </p:spPr>
        <p:txBody>
          <a:bodyPr wrap="square" lIns="36576" tIns="36576" rIns="36576" bIns="36576" anchor="t">
            <a:spAutoFit/>
          </a:bodyPr>
          <a:lstStyle/>
          <a:p>
            <a:pPr algn="ctr">
              <a:spcAft>
                <a:spcPts val="0"/>
              </a:spcAft>
            </a:pPr>
            <a:r>
              <a:rPr sz="1400" b="1">
                <a:solidFill>
                  <a:srgbClr val="0A221C"/>
                </a:solidFill>
                <a:latin typeface="Aptos"/>
              </a:rPr>
              <a:t>03</a:t>
            </a:r>
          </a:p>
        </p:txBody>
      </p:sp>
      <p:sp>
        <p:nvSpPr>
          <p:cNvPr id="19" name="TextBox 18"/>
          <p:cNvSpPr txBox="1"/>
          <p:nvPr/>
        </p:nvSpPr>
        <p:spPr>
          <a:xfrm>
            <a:off x="6519672" y="2423160"/>
            <a:ext cx="2011680" cy="274320"/>
          </a:xfrm>
          <a:prstGeom prst="rect">
            <a:avLst/>
          </a:prstGeom>
          <a:noFill/>
        </p:spPr>
        <p:txBody>
          <a:bodyPr wrap="square" lIns="36576" tIns="36576" rIns="36576" bIns="36576" anchor="t">
            <a:spAutoFit/>
          </a:bodyPr>
          <a:lstStyle/>
          <a:p>
            <a:pPr algn="ctr">
              <a:spcAft>
                <a:spcPts val="0"/>
              </a:spcAft>
            </a:pPr>
            <a:r>
              <a:rPr sz="1500" b="1">
                <a:solidFill>
                  <a:srgbClr val="F9F7EE"/>
                </a:solidFill>
                <a:latin typeface="Aptos"/>
              </a:rPr>
              <a:t>Atomic reserve</a:t>
            </a:r>
          </a:p>
        </p:txBody>
      </p:sp>
      <p:sp>
        <p:nvSpPr>
          <p:cNvPr id="20" name="TextBox 19"/>
          <p:cNvSpPr txBox="1"/>
          <p:nvPr/>
        </p:nvSpPr>
        <p:spPr>
          <a:xfrm>
            <a:off x="6519672" y="2852928"/>
            <a:ext cx="2011680" cy="640080"/>
          </a:xfrm>
          <a:prstGeom prst="rect">
            <a:avLst/>
          </a:prstGeom>
          <a:noFill/>
        </p:spPr>
        <p:txBody>
          <a:bodyPr wrap="square" lIns="36576" tIns="36576" rIns="36576" bIns="36576" anchor="t">
            <a:spAutoFit/>
          </a:bodyPr>
          <a:lstStyle/>
          <a:p>
            <a:pPr algn="ctr">
              <a:spcAft>
                <a:spcPts val="0"/>
              </a:spcAft>
            </a:pPr>
            <a:r>
              <a:rPr sz="1100" b="0">
                <a:solidFill>
                  <a:srgbClr val="BBCFC1"/>
                </a:solidFill>
                <a:latin typeface="Aptos"/>
              </a:rPr>
              <a:t>Available only
Expiry must be future</a:t>
            </a:r>
          </a:p>
        </p:txBody>
      </p:sp>
      <p:sp>
        <p:nvSpPr>
          <p:cNvPr id="21" name="Rounded Rectangle 20"/>
          <p:cNvSpPr/>
          <p:nvPr/>
        </p:nvSpPr>
        <p:spPr>
          <a:xfrm>
            <a:off x="9235440" y="1920240"/>
            <a:ext cx="2331720" cy="1874519"/>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10040112" y="1627632"/>
            <a:ext cx="658368" cy="658368"/>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040112" y="1810512"/>
            <a:ext cx="658368" cy="228600"/>
          </a:xfrm>
          <a:prstGeom prst="rect">
            <a:avLst/>
          </a:prstGeom>
          <a:noFill/>
        </p:spPr>
        <p:txBody>
          <a:bodyPr wrap="square" lIns="36576" tIns="36576" rIns="36576" bIns="36576" anchor="t">
            <a:spAutoFit/>
          </a:bodyPr>
          <a:lstStyle/>
          <a:p>
            <a:pPr algn="ctr">
              <a:spcAft>
                <a:spcPts val="0"/>
              </a:spcAft>
            </a:pPr>
            <a:r>
              <a:rPr sz="1400" b="1">
                <a:solidFill>
                  <a:srgbClr val="0A221C"/>
                </a:solidFill>
                <a:latin typeface="Aptos"/>
              </a:rPr>
              <a:t>04</a:t>
            </a:r>
          </a:p>
        </p:txBody>
      </p:sp>
      <p:sp>
        <p:nvSpPr>
          <p:cNvPr id="24" name="TextBox 23"/>
          <p:cNvSpPr txBox="1"/>
          <p:nvPr/>
        </p:nvSpPr>
        <p:spPr>
          <a:xfrm>
            <a:off x="9400032" y="2423160"/>
            <a:ext cx="2011680" cy="274320"/>
          </a:xfrm>
          <a:prstGeom prst="rect">
            <a:avLst/>
          </a:prstGeom>
          <a:noFill/>
        </p:spPr>
        <p:txBody>
          <a:bodyPr wrap="square" lIns="36576" tIns="36576" rIns="36576" bIns="36576" anchor="t">
            <a:spAutoFit/>
          </a:bodyPr>
          <a:lstStyle/>
          <a:p>
            <a:pPr algn="ctr">
              <a:spcAft>
                <a:spcPts val="0"/>
              </a:spcAft>
            </a:pPr>
            <a:r>
              <a:rPr sz="1500" b="1">
                <a:solidFill>
                  <a:srgbClr val="F9F7EE"/>
                </a:solidFill>
                <a:latin typeface="Aptos"/>
              </a:rPr>
              <a:t>Collect + persist</a:t>
            </a:r>
          </a:p>
        </p:txBody>
      </p:sp>
      <p:sp>
        <p:nvSpPr>
          <p:cNvPr id="25" name="TextBox 24"/>
          <p:cNvSpPr txBox="1"/>
          <p:nvPr/>
        </p:nvSpPr>
        <p:spPr>
          <a:xfrm>
            <a:off x="9400032" y="2852928"/>
            <a:ext cx="2011680" cy="640080"/>
          </a:xfrm>
          <a:prstGeom prst="rect">
            <a:avLst/>
          </a:prstGeom>
          <a:noFill/>
        </p:spPr>
        <p:txBody>
          <a:bodyPr wrap="square" lIns="36576" tIns="36576" rIns="36576" bIns="36576" anchor="t">
            <a:spAutoFit/>
          </a:bodyPr>
          <a:lstStyle/>
          <a:p>
            <a:pPr algn="ctr">
              <a:spcAft>
                <a:spcPts val="0"/>
              </a:spcAft>
            </a:pPr>
            <a:r>
              <a:rPr sz="1100" b="0">
                <a:solidFill>
                  <a:srgbClr val="BBCFC1"/>
                </a:solidFill>
                <a:latin typeface="Aptos"/>
              </a:rPr>
              <a:t>Status changes
Record survives refresh</a:t>
            </a:r>
          </a:p>
        </p:txBody>
      </p:sp>
      <p:cxnSp>
        <p:nvCxnSpPr>
          <p:cNvPr id="26" name="Connector 25"/>
          <p:cNvCxnSpPr/>
          <p:nvPr/>
        </p:nvCxnSpPr>
        <p:spPr>
          <a:xfrm>
            <a:off x="2990088" y="2834640"/>
            <a:ext cx="384048" cy="0"/>
          </a:xfrm>
          <a:prstGeom prst="line">
            <a:avLst/>
          </a:prstGeom>
          <a:ln w="25400">
            <a:solidFill>
              <a:srgbClr val="FF8F4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870448" y="2834640"/>
            <a:ext cx="384048" cy="0"/>
          </a:xfrm>
          <a:prstGeom prst="line">
            <a:avLst/>
          </a:prstGeom>
          <a:ln w="25400">
            <a:solidFill>
              <a:srgbClr val="FF8F42"/>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750808" y="2834640"/>
            <a:ext cx="384048" cy="0"/>
          </a:xfrm>
          <a:prstGeom prst="line">
            <a:avLst/>
          </a:prstGeom>
          <a:ln w="25400">
            <a:solidFill>
              <a:srgbClr val="FF8F42"/>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4343400"/>
            <a:ext cx="1920240" cy="274320"/>
          </a:xfrm>
          <a:prstGeom prst="rect">
            <a:avLst/>
          </a:prstGeom>
          <a:noFill/>
        </p:spPr>
        <p:txBody>
          <a:bodyPr wrap="square" lIns="36576" tIns="36576" rIns="36576" bIns="36576" anchor="t">
            <a:spAutoFit/>
          </a:bodyPr>
          <a:lstStyle/>
          <a:p>
            <a:pPr algn="l">
              <a:spcAft>
                <a:spcPts val="0"/>
              </a:spcAft>
            </a:pPr>
            <a:r>
              <a:rPr sz="1100" b="1">
                <a:solidFill>
                  <a:srgbClr val="AFE169"/>
                </a:solidFill>
                <a:latin typeface="Aptos"/>
              </a:rPr>
              <a:t>USER JOURNEY</a:t>
            </a:r>
          </a:p>
        </p:txBody>
      </p:sp>
      <p:sp>
        <p:nvSpPr>
          <p:cNvPr id="30" name="Rounded Rectangle 29"/>
          <p:cNvSpPr/>
          <p:nvPr/>
        </p:nvSpPr>
        <p:spPr>
          <a:xfrm>
            <a:off x="685800" y="4754880"/>
            <a:ext cx="5074920" cy="100584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4937760"/>
            <a:ext cx="960120" cy="274320"/>
          </a:xfrm>
          <a:prstGeom prst="rect">
            <a:avLst/>
          </a:prstGeom>
          <a:noFill/>
        </p:spPr>
        <p:txBody>
          <a:bodyPr wrap="square" lIns="36576" tIns="36576" rIns="36576" bIns="36576" anchor="t">
            <a:spAutoFit/>
          </a:bodyPr>
          <a:lstStyle/>
          <a:p>
            <a:pPr algn="l">
              <a:spcAft>
                <a:spcPts val="0"/>
              </a:spcAft>
            </a:pPr>
            <a:r>
              <a:rPr sz="1300" b="1">
                <a:solidFill>
                  <a:srgbClr val="30B570"/>
                </a:solidFill>
                <a:latin typeface="Aptos"/>
              </a:rPr>
              <a:t>DONOR</a:t>
            </a:r>
          </a:p>
        </p:txBody>
      </p:sp>
      <p:sp>
        <p:nvSpPr>
          <p:cNvPr id="32" name="TextBox 31"/>
          <p:cNvSpPr txBox="1"/>
          <p:nvPr/>
        </p:nvSpPr>
        <p:spPr>
          <a:xfrm>
            <a:off x="1965960" y="4901184"/>
            <a:ext cx="3520440" cy="411480"/>
          </a:xfrm>
          <a:prstGeom prst="rect">
            <a:avLst/>
          </a:prstGeom>
          <a:noFill/>
        </p:spPr>
        <p:txBody>
          <a:bodyPr wrap="square" lIns="36576" tIns="36576" rIns="36576" bIns="36576" anchor="t">
            <a:spAutoFit/>
          </a:bodyPr>
          <a:lstStyle/>
          <a:p>
            <a:pPr algn="l">
              <a:spcAft>
                <a:spcPts val="0"/>
              </a:spcAft>
            </a:pPr>
            <a:r>
              <a:rPr sz="1400" b="1">
                <a:solidFill>
                  <a:srgbClr val="F9F7EE"/>
                </a:solidFill>
                <a:latin typeface="Aptos"/>
              </a:rPr>
              <a:t>Login → Add food → Track status</a:t>
            </a:r>
          </a:p>
        </p:txBody>
      </p:sp>
      <p:sp>
        <p:nvSpPr>
          <p:cNvPr id="33" name="Rounded Rectangle 32"/>
          <p:cNvSpPr/>
          <p:nvPr/>
        </p:nvSpPr>
        <p:spPr>
          <a:xfrm>
            <a:off x="6263640" y="4754880"/>
            <a:ext cx="5074920" cy="100584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92240" y="4937760"/>
            <a:ext cx="960120" cy="274320"/>
          </a:xfrm>
          <a:prstGeom prst="rect">
            <a:avLst/>
          </a:prstGeom>
          <a:noFill/>
        </p:spPr>
        <p:txBody>
          <a:bodyPr wrap="square" lIns="36576" tIns="36576" rIns="36576" bIns="36576" anchor="t">
            <a:spAutoFit/>
          </a:bodyPr>
          <a:lstStyle/>
          <a:p>
            <a:pPr algn="l">
              <a:spcAft>
                <a:spcPts val="0"/>
              </a:spcAft>
            </a:pPr>
            <a:r>
              <a:rPr sz="1300" b="1">
                <a:solidFill>
                  <a:srgbClr val="FF8F42"/>
                </a:solidFill>
                <a:latin typeface="Aptos"/>
              </a:rPr>
              <a:t>NGO</a:t>
            </a:r>
          </a:p>
        </p:txBody>
      </p:sp>
      <p:sp>
        <p:nvSpPr>
          <p:cNvPr id="35" name="TextBox 34"/>
          <p:cNvSpPr txBox="1"/>
          <p:nvPr/>
        </p:nvSpPr>
        <p:spPr>
          <a:xfrm>
            <a:off x="7543800" y="4901184"/>
            <a:ext cx="3566160" cy="411480"/>
          </a:xfrm>
          <a:prstGeom prst="rect">
            <a:avLst/>
          </a:prstGeom>
          <a:noFill/>
        </p:spPr>
        <p:txBody>
          <a:bodyPr wrap="square" lIns="36576" tIns="36576" rIns="36576" bIns="36576" anchor="t">
            <a:spAutoFit/>
          </a:bodyPr>
          <a:lstStyle/>
          <a:p>
            <a:pPr algn="l">
              <a:spcAft>
                <a:spcPts val="0"/>
              </a:spcAft>
            </a:pPr>
            <a:r>
              <a:rPr sz="1400" b="1">
                <a:solidFill>
                  <a:srgbClr val="F9F7EE"/>
                </a:solidFill>
                <a:latin typeface="Aptos"/>
              </a:rPr>
              <a:t>Login → Filter → Reserve → Collect</a:t>
            </a:r>
          </a:p>
        </p:txBody>
      </p:sp>
      <p:sp>
        <p:nvSpPr>
          <p:cNvPr id="36" name="TextBox 35"/>
          <p:cNvSpPr txBox="1"/>
          <p:nvPr/>
        </p:nvSpPr>
        <p:spPr>
          <a:xfrm>
            <a:off x="731520" y="5989320"/>
            <a:ext cx="10789920" cy="228600"/>
          </a:xfrm>
          <a:prstGeom prst="rect">
            <a:avLst/>
          </a:prstGeom>
          <a:noFill/>
        </p:spPr>
        <p:txBody>
          <a:bodyPr wrap="square" lIns="36576" tIns="36576" rIns="36576" bIns="36576" anchor="t">
            <a:spAutoFit/>
          </a:bodyPr>
          <a:lstStyle/>
          <a:p>
            <a:pPr algn="ctr">
              <a:spcAft>
                <a:spcPts val="0"/>
              </a:spcAft>
            </a:pPr>
            <a:r>
              <a:rPr sz="1200" b="1">
                <a:solidFill>
                  <a:srgbClr val="FF8F42"/>
                </a:solidFill>
                <a:latin typeface="Aptos"/>
              </a:rPr>
              <a:t>Safety rule: reserve only when status = Available AND expiryTime &gt; now</a:t>
            </a:r>
          </a:p>
        </p:txBody>
      </p:sp>
      <p:sp>
        <p:nvSpPr>
          <p:cNvPr id="37" name="TextBox 36"/>
          <p:cNvSpPr txBox="1"/>
          <p:nvPr/>
        </p:nvSpPr>
        <p:spPr>
          <a:xfrm>
            <a:off x="594360" y="6510528"/>
            <a:ext cx="5486400" cy="164592"/>
          </a:xfrm>
          <a:prstGeom prst="rect">
            <a:avLst/>
          </a:prstGeom>
          <a:noFill/>
        </p:spPr>
        <p:txBody>
          <a:bodyPr wrap="square" lIns="36576" tIns="36576" rIns="36576" bIns="36576" anchor="t">
            <a:spAutoFit/>
          </a:bodyPr>
          <a:lstStyle/>
          <a:p>
            <a:pPr algn="l">
              <a:spcAft>
                <a:spcPts val="0"/>
              </a:spcAft>
            </a:pPr>
            <a:r>
              <a:rPr sz="800" b="1">
                <a:solidFill>
                  <a:srgbClr val="BBCFC1"/>
                </a:solidFill>
                <a:latin typeface="Aptos"/>
              </a:rPr>
              <a:t>FOODBRIDGE  •  FOOD FORWARD</a:t>
            </a:r>
          </a:p>
        </p:txBody>
      </p:sp>
      <p:sp>
        <p:nvSpPr>
          <p:cNvPr id="38" name="Oval 37"/>
          <p:cNvSpPr/>
          <p:nvPr/>
        </p:nvSpPr>
        <p:spPr>
          <a:xfrm>
            <a:off x="11018520" y="6492240"/>
            <a:ext cx="82296" cy="82296"/>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1219688" y="6492240"/>
            <a:ext cx="82296" cy="82296"/>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Oval 39"/>
          <p:cNvSpPr/>
          <p:nvPr/>
        </p:nvSpPr>
        <p:spPr>
          <a:xfrm>
            <a:off x="11420856" y="6492240"/>
            <a:ext cx="82296" cy="82296"/>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221C"/>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9875520" cy="502920"/>
          </a:xfrm>
          <a:prstGeom prst="rect">
            <a:avLst/>
          </a:prstGeom>
          <a:noFill/>
        </p:spPr>
        <p:txBody>
          <a:bodyPr wrap="square" lIns="36576" tIns="36576" rIns="36576" bIns="36576" anchor="t">
            <a:spAutoFit/>
          </a:bodyPr>
          <a:lstStyle/>
          <a:p>
            <a:pPr algn="l">
              <a:spcAft>
                <a:spcPts val="0"/>
              </a:spcAft>
            </a:pPr>
            <a:r>
              <a:rPr sz="2700" b="1">
                <a:solidFill>
                  <a:srgbClr val="F9F7EE"/>
                </a:solidFill>
                <a:latin typeface="Aptos"/>
              </a:rPr>
              <a:t>Technology &amp; Algorithm</a:t>
            </a:r>
          </a:p>
        </p:txBody>
      </p:sp>
      <p:sp>
        <p:nvSpPr>
          <p:cNvPr id="3" name="Rectangle 2"/>
          <p:cNvSpPr/>
          <p:nvPr/>
        </p:nvSpPr>
        <p:spPr>
          <a:xfrm>
            <a:off x="585216" y="932688"/>
            <a:ext cx="960120" cy="50292"/>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881360" y="347472"/>
            <a:ext cx="685800" cy="320040"/>
          </a:xfrm>
          <a:prstGeom prst="rect">
            <a:avLst/>
          </a:prstGeom>
          <a:noFill/>
        </p:spPr>
        <p:txBody>
          <a:bodyPr wrap="square" lIns="36576" tIns="36576" rIns="36576" bIns="36576" anchor="t">
            <a:spAutoFit/>
          </a:bodyPr>
          <a:lstStyle/>
          <a:p>
            <a:pPr algn="r">
              <a:spcAft>
                <a:spcPts val="0"/>
              </a:spcAft>
            </a:pPr>
            <a:r>
              <a:rPr sz="1000" b="1">
                <a:solidFill>
                  <a:srgbClr val="BBCFC1"/>
                </a:solidFill>
                <a:latin typeface="Aptos"/>
              </a:rPr>
              <a:t>05 / 07</a:t>
            </a:r>
          </a:p>
        </p:txBody>
      </p:sp>
      <p:sp>
        <p:nvSpPr>
          <p:cNvPr id="5" name="TextBox 4"/>
          <p:cNvSpPr txBox="1"/>
          <p:nvPr/>
        </p:nvSpPr>
        <p:spPr>
          <a:xfrm>
            <a:off x="658368" y="1143000"/>
            <a:ext cx="1828800" cy="274320"/>
          </a:xfrm>
          <a:prstGeom prst="rect">
            <a:avLst/>
          </a:prstGeom>
          <a:noFill/>
        </p:spPr>
        <p:txBody>
          <a:bodyPr wrap="square" lIns="36576" tIns="36576" rIns="36576" bIns="36576" anchor="t">
            <a:spAutoFit/>
          </a:bodyPr>
          <a:lstStyle/>
          <a:p>
            <a:pPr algn="l">
              <a:spcAft>
                <a:spcPts val="0"/>
              </a:spcAft>
            </a:pPr>
            <a:r>
              <a:rPr sz="1000" b="1">
                <a:solidFill>
                  <a:srgbClr val="AFE169"/>
                </a:solidFill>
                <a:latin typeface="Aptos"/>
              </a:rPr>
              <a:t>FULL-STACK TOOLKIT</a:t>
            </a:r>
          </a:p>
        </p:txBody>
      </p:sp>
      <p:sp>
        <p:nvSpPr>
          <p:cNvPr id="6" name="Rounded Rectangle 5"/>
          <p:cNvSpPr/>
          <p:nvPr/>
        </p:nvSpPr>
        <p:spPr>
          <a:xfrm>
            <a:off x="658368" y="1554480"/>
            <a:ext cx="1691640" cy="475488"/>
          </a:xfrm>
          <a:prstGeom prst="round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691640"/>
            <a:ext cx="1691640" cy="182880"/>
          </a:xfrm>
          <a:prstGeom prst="rect">
            <a:avLst/>
          </a:prstGeom>
          <a:noFill/>
        </p:spPr>
        <p:txBody>
          <a:bodyPr wrap="square" lIns="36576" tIns="36576" rIns="36576" bIns="36576" anchor="t">
            <a:spAutoFit/>
          </a:bodyPr>
          <a:lstStyle/>
          <a:p>
            <a:pPr algn="ctr">
              <a:spcAft>
                <a:spcPts val="0"/>
              </a:spcAft>
            </a:pPr>
            <a:r>
              <a:rPr sz="1100" b="1">
                <a:solidFill>
                  <a:srgbClr val="0A221C"/>
                </a:solidFill>
                <a:latin typeface="Aptos"/>
              </a:rPr>
              <a:t>React + Vite</a:t>
            </a:r>
          </a:p>
        </p:txBody>
      </p:sp>
      <p:sp>
        <p:nvSpPr>
          <p:cNvPr id="8" name="Rounded Rectangle 7"/>
          <p:cNvSpPr/>
          <p:nvPr/>
        </p:nvSpPr>
        <p:spPr>
          <a:xfrm>
            <a:off x="2514600" y="1554480"/>
            <a:ext cx="1234440" cy="475488"/>
          </a:xfrm>
          <a:prstGeom prst="round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14600" y="1691640"/>
            <a:ext cx="1234440" cy="182880"/>
          </a:xfrm>
          <a:prstGeom prst="rect">
            <a:avLst/>
          </a:prstGeom>
          <a:noFill/>
        </p:spPr>
        <p:txBody>
          <a:bodyPr wrap="square" lIns="36576" tIns="36576" rIns="36576" bIns="36576" anchor="t">
            <a:spAutoFit/>
          </a:bodyPr>
          <a:lstStyle/>
          <a:p>
            <a:pPr algn="ctr">
              <a:spcAft>
                <a:spcPts val="0"/>
              </a:spcAft>
            </a:pPr>
            <a:r>
              <a:rPr sz="1100" b="1">
                <a:solidFill>
                  <a:srgbClr val="0A221C"/>
                </a:solidFill>
                <a:latin typeface="Aptos"/>
              </a:rPr>
              <a:t>Node.js</a:t>
            </a:r>
          </a:p>
        </p:txBody>
      </p:sp>
      <p:sp>
        <p:nvSpPr>
          <p:cNvPr id="10" name="Rounded Rectangle 9"/>
          <p:cNvSpPr/>
          <p:nvPr/>
        </p:nvSpPr>
        <p:spPr>
          <a:xfrm>
            <a:off x="3913632" y="1554480"/>
            <a:ext cx="1371600" cy="475488"/>
          </a:xfrm>
          <a:prstGeom prst="roundRect">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13632" y="1691640"/>
            <a:ext cx="1371600" cy="182880"/>
          </a:xfrm>
          <a:prstGeom prst="rect">
            <a:avLst/>
          </a:prstGeom>
          <a:noFill/>
        </p:spPr>
        <p:txBody>
          <a:bodyPr wrap="square" lIns="36576" tIns="36576" rIns="36576" bIns="36576" anchor="t">
            <a:spAutoFit/>
          </a:bodyPr>
          <a:lstStyle/>
          <a:p>
            <a:pPr algn="ctr">
              <a:spcAft>
                <a:spcPts val="0"/>
              </a:spcAft>
            </a:pPr>
            <a:r>
              <a:rPr sz="1100" b="1">
                <a:solidFill>
                  <a:srgbClr val="0A221C"/>
                </a:solidFill>
                <a:latin typeface="Aptos"/>
              </a:rPr>
              <a:t>Express.js</a:t>
            </a:r>
          </a:p>
        </p:txBody>
      </p:sp>
      <p:sp>
        <p:nvSpPr>
          <p:cNvPr id="12" name="Rounded Rectangle 11"/>
          <p:cNvSpPr/>
          <p:nvPr/>
        </p:nvSpPr>
        <p:spPr>
          <a:xfrm>
            <a:off x="5449824" y="1554480"/>
            <a:ext cx="2240280" cy="475488"/>
          </a:xfrm>
          <a:prstGeom prst="round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449824" y="1691640"/>
            <a:ext cx="2240280" cy="182880"/>
          </a:xfrm>
          <a:prstGeom prst="rect">
            <a:avLst/>
          </a:prstGeom>
          <a:noFill/>
        </p:spPr>
        <p:txBody>
          <a:bodyPr wrap="square" lIns="36576" tIns="36576" rIns="36576" bIns="36576" anchor="t">
            <a:spAutoFit/>
          </a:bodyPr>
          <a:lstStyle/>
          <a:p>
            <a:pPr algn="ctr">
              <a:spcAft>
                <a:spcPts val="0"/>
              </a:spcAft>
            </a:pPr>
            <a:r>
              <a:rPr sz="1100" b="1">
                <a:solidFill>
                  <a:srgbClr val="0A221C"/>
                </a:solidFill>
                <a:latin typeface="Aptos"/>
              </a:rPr>
              <a:t>MongoDB + Mongoose</a:t>
            </a:r>
          </a:p>
        </p:txBody>
      </p:sp>
      <p:sp>
        <p:nvSpPr>
          <p:cNvPr id="14" name="Rounded Rectangle 13"/>
          <p:cNvSpPr/>
          <p:nvPr/>
        </p:nvSpPr>
        <p:spPr>
          <a:xfrm>
            <a:off x="7854696" y="1554480"/>
            <a:ext cx="1554480" cy="475488"/>
          </a:xfrm>
          <a:prstGeom prst="round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54696" y="1691640"/>
            <a:ext cx="1554480" cy="182880"/>
          </a:xfrm>
          <a:prstGeom prst="rect">
            <a:avLst/>
          </a:prstGeom>
          <a:noFill/>
        </p:spPr>
        <p:txBody>
          <a:bodyPr wrap="square" lIns="36576" tIns="36576" rIns="36576" bIns="36576" anchor="t">
            <a:spAutoFit/>
          </a:bodyPr>
          <a:lstStyle/>
          <a:p>
            <a:pPr algn="ctr">
              <a:spcAft>
                <a:spcPts val="0"/>
              </a:spcAft>
            </a:pPr>
            <a:r>
              <a:rPr sz="1100" b="1">
                <a:solidFill>
                  <a:srgbClr val="0A221C"/>
                </a:solidFill>
                <a:latin typeface="Aptos"/>
              </a:rPr>
              <a:t>JWT + bcrypt</a:t>
            </a:r>
          </a:p>
        </p:txBody>
      </p:sp>
      <p:sp>
        <p:nvSpPr>
          <p:cNvPr id="16" name="Rounded Rectangle 15"/>
          <p:cNvSpPr/>
          <p:nvPr/>
        </p:nvSpPr>
        <p:spPr>
          <a:xfrm>
            <a:off x="658368" y="2514600"/>
            <a:ext cx="5230368" cy="9601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41247" y="2724912"/>
            <a:ext cx="475488" cy="475488"/>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1247" y="2825496"/>
            <a:ext cx="475488" cy="182880"/>
          </a:xfrm>
          <a:prstGeom prst="rect">
            <a:avLst/>
          </a:prstGeom>
          <a:noFill/>
        </p:spPr>
        <p:txBody>
          <a:bodyPr wrap="square" lIns="36576" tIns="36576" rIns="36576" bIns="36576" anchor="t">
            <a:spAutoFit/>
          </a:bodyPr>
          <a:lstStyle/>
          <a:p>
            <a:pPr algn="ctr">
              <a:spcAft>
                <a:spcPts val="0"/>
              </a:spcAft>
            </a:pPr>
            <a:r>
              <a:rPr sz="1300" b="1">
                <a:solidFill>
                  <a:srgbClr val="0A221C"/>
                </a:solidFill>
                <a:latin typeface="Aptos"/>
              </a:rPr>
              <a:t>✓</a:t>
            </a:r>
          </a:p>
        </p:txBody>
      </p:sp>
      <p:sp>
        <p:nvSpPr>
          <p:cNvPr id="19" name="TextBox 18"/>
          <p:cNvSpPr txBox="1"/>
          <p:nvPr/>
        </p:nvSpPr>
        <p:spPr>
          <a:xfrm>
            <a:off x="1481328" y="2679192"/>
            <a:ext cx="2103120" cy="274320"/>
          </a:xfrm>
          <a:prstGeom prst="rect">
            <a:avLst/>
          </a:prstGeom>
          <a:noFill/>
        </p:spPr>
        <p:txBody>
          <a:bodyPr wrap="square" lIns="36576" tIns="36576" rIns="36576" bIns="36576" anchor="t">
            <a:spAutoFit/>
          </a:bodyPr>
          <a:lstStyle/>
          <a:p>
            <a:pPr algn="l">
              <a:spcAft>
                <a:spcPts val="0"/>
              </a:spcAft>
            </a:pPr>
            <a:r>
              <a:rPr sz="1500" b="1">
                <a:solidFill>
                  <a:srgbClr val="F9F7EE"/>
                </a:solidFill>
                <a:latin typeface="Aptos"/>
              </a:rPr>
              <a:t>bcrypt</a:t>
            </a:r>
          </a:p>
        </p:txBody>
      </p:sp>
      <p:sp>
        <p:nvSpPr>
          <p:cNvPr id="20" name="TextBox 19"/>
          <p:cNvSpPr txBox="1"/>
          <p:nvPr/>
        </p:nvSpPr>
        <p:spPr>
          <a:xfrm>
            <a:off x="3401568" y="2679192"/>
            <a:ext cx="2240280" cy="246888"/>
          </a:xfrm>
          <a:prstGeom prst="rect">
            <a:avLst/>
          </a:prstGeom>
          <a:noFill/>
        </p:spPr>
        <p:txBody>
          <a:bodyPr wrap="square" lIns="36576" tIns="36576" rIns="36576" bIns="36576" anchor="t">
            <a:spAutoFit/>
          </a:bodyPr>
          <a:lstStyle/>
          <a:p>
            <a:pPr algn="l">
              <a:spcAft>
                <a:spcPts val="0"/>
              </a:spcAft>
            </a:pPr>
            <a:r>
              <a:rPr sz="1200" b="1">
                <a:solidFill>
                  <a:srgbClr val="30B570"/>
                </a:solidFill>
                <a:latin typeface="Aptos"/>
              </a:rPr>
              <a:t>Hash passwords</a:t>
            </a:r>
          </a:p>
        </p:txBody>
      </p:sp>
      <p:sp>
        <p:nvSpPr>
          <p:cNvPr id="21" name="TextBox 20"/>
          <p:cNvSpPr txBox="1"/>
          <p:nvPr/>
        </p:nvSpPr>
        <p:spPr>
          <a:xfrm>
            <a:off x="1481328" y="3044952"/>
            <a:ext cx="4114800" cy="228600"/>
          </a:xfrm>
          <a:prstGeom prst="rect">
            <a:avLst/>
          </a:prstGeom>
          <a:noFill/>
        </p:spPr>
        <p:txBody>
          <a:bodyPr wrap="square" lIns="36576" tIns="36576" rIns="36576" bIns="36576" anchor="t">
            <a:spAutoFit/>
          </a:bodyPr>
          <a:lstStyle/>
          <a:p>
            <a:pPr algn="l">
              <a:spcAft>
                <a:spcPts val="0"/>
              </a:spcAft>
            </a:pPr>
            <a:r>
              <a:rPr sz="1000" b="0">
                <a:solidFill>
                  <a:srgbClr val="BBCFC1"/>
                </a:solidFill>
                <a:latin typeface="Aptos"/>
              </a:rPr>
              <a:t>No plain-text credentials</a:t>
            </a:r>
          </a:p>
        </p:txBody>
      </p:sp>
      <p:sp>
        <p:nvSpPr>
          <p:cNvPr id="22" name="Rounded Rectangle 21"/>
          <p:cNvSpPr/>
          <p:nvPr/>
        </p:nvSpPr>
        <p:spPr>
          <a:xfrm>
            <a:off x="6263640" y="2514600"/>
            <a:ext cx="5230368" cy="9601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446520" y="2724912"/>
            <a:ext cx="475488" cy="475488"/>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46520" y="2825496"/>
            <a:ext cx="475488" cy="182880"/>
          </a:xfrm>
          <a:prstGeom prst="rect">
            <a:avLst/>
          </a:prstGeom>
          <a:noFill/>
        </p:spPr>
        <p:txBody>
          <a:bodyPr wrap="square" lIns="36576" tIns="36576" rIns="36576" bIns="36576" anchor="t">
            <a:spAutoFit/>
          </a:bodyPr>
          <a:lstStyle/>
          <a:p>
            <a:pPr algn="ctr">
              <a:spcAft>
                <a:spcPts val="0"/>
              </a:spcAft>
            </a:pPr>
            <a:r>
              <a:rPr sz="1300" b="1">
                <a:solidFill>
                  <a:srgbClr val="0A221C"/>
                </a:solidFill>
                <a:latin typeface="Aptos"/>
              </a:rPr>
              <a:t>✓</a:t>
            </a:r>
          </a:p>
        </p:txBody>
      </p:sp>
      <p:sp>
        <p:nvSpPr>
          <p:cNvPr id="25" name="TextBox 24"/>
          <p:cNvSpPr txBox="1"/>
          <p:nvPr/>
        </p:nvSpPr>
        <p:spPr>
          <a:xfrm>
            <a:off x="7086600" y="2679192"/>
            <a:ext cx="2103120" cy="274320"/>
          </a:xfrm>
          <a:prstGeom prst="rect">
            <a:avLst/>
          </a:prstGeom>
          <a:noFill/>
        </p:spPr>
        <p:txBody>
          <a:bodyPr wrap="square" lIns="36576" tIns="36576" rIns="36576" bIns="36576" anchor="t">
            <a:spAutoFit/>
          </a:bodyPr>
          <a:lstStyle/>
          <a:p>
            <a:pPr algn="l">
              <a:spcAft>
                <a:spcPts val="0"/>
              </a:spcAft>
            </a:pPr>
            <a:r>
              <a:rPr sz="1500" b="1">
                <a:solidFill>
                  <a:srgbClr val="F9F7EE"/>
                </a:solidFill>
                <a:latin typeface="Aptos"/>
              </a:rPr>
              <a:t>JWT + roles</a:t>
            </a:r>
          </a:p>
        </p:txBody>
      </p:sp>
      <p:sp>
        <p:nvSpPr>
          <p:cNvPr id="26" name="TextBox 25"/>
          <p:cNvSpPr txBox="1"/>
          <p:nvPr/>
        </p:nvSpPr>
        <p:spPr>
          <a:xfrm>
            <a:off x="9006840" y="2679192"/>
            <a:ext cx="2240280" cy="246888"/>
          </a:xfrm>
          <a:prstGeom prst="rect">
            <a:avLst/>
          </a:prstGeom>
          <a:noFill/>
        </p:spPr>
        <p:txBody>
          <a:bodyPr wrap="square" lIns="36576" tIns="36576" rIns="36576" bIns="36576" anchor="t">
            <a:spAutoFit/>
          </a:bodyPr>
          <a:lstStyle/>
          <a:p>
            <a:pPr algn="l">
              <a:spcAft>
                <a:spcPts val="0"/>
              </a:spcAft>
            </a:pPr>
            <a:r>
              <a:rPr sz="1200" b="1">
                <a:solidFill>
                  <a:srgbClr val="FF8F42"/>
                </a:solidFill>
                <a:latin typeface="Aptos"/>
              </a:rPr>
              <a:t>Authorize requests</a:t>
            </a:r>
          </a:p>
        </p:txBody>
      </p:sp>
      <p:sp>
        <p:nvSpPr>
          <p:cNvPr id="27" name="TextBox 26"/>
          <p:cNvSpPr txBox="1"/>
          <p:nvPr/>
        </p:nvSpPr>
        <p:spPr>
          <a:xfrm>
            <a:off x="7086600" y="3044952"/>
            <a:ext cx="4114800" cy="228600"/>
          </a:xfrm>
          <a:prstGeom prst="rect">
            <a:avLst/>
          </a:prstGeom>
          <a:noFill/>
        </p:spPr>
        <p:txBody>
          <a:bodyPr wrap="square" lIns="36576" tIns="36576" rIns="36576" bIns="36576" anchor="t">
            <a:spAutoFit/>
          </a:bodyPr>
          <a:lstStyle/>
          <a:p>
            <a:pPr algn="l">
              <a:spcAft>
                <a:spcPts val="0"/>
              </a:spcAft>
            </a:pPr>
            <a:r>
              <a:rPr sz="1000" b="0">
                <a:solidFill>
                  <a:srgbClr val="BBCFC1"/>
                </a:solidFill>
                <a:latin typeface="Aptos"/>
              </a:rPr>
              <a:t>Stateless access control</a:t>
            </a:r>
          </a:p>
        </p:txBody>
      </p:sp>
      <p:sp>
        <p:nvSpPr>
          <p:cNvPr id="28" name="Rounded Rectangle 27"/>
          <p:cNvSpPr/>
          <p:nvPr/>
        </p:nvSpPr>
        <p:spPr>
          <a:xfrm>
            <a:off x="658368" y="3794760"/>
            <a:ext cx="5230368" cy="9601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41247" y="4005072"/>
            <a:ext cx="475488" cy="475488"/>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1247" y="4105656"/>
            <a:ext cx="475488" cy="182880"/>
          </a:xfrm>
          <a:prstGeom prst="rect">
            <a:avLst/>
          </a:prstGeom>
          <a:noFill/>
        </p:spPr>
        <p:txBody>
          <a:bodyPr wrap="square" lIns="36576" tIns="36576" rIns="36576" bIns="36576" anchor="t">
            <a:spAutoFit/>
          </a:bodyPr>
          <a:lstStyle/>
          <a:p>
            <a:pPr algn="ctr">
              <a:spcAft>
                <a:spcPts val="0"/>
              </a:spcAft>
            </a:pPr>
            <a:r>
              <a:rPr sz="1300" b="1">
                <a:solidFill>
                  <a:srgbClr val="0A221C"/>
                </a:solidFill>
                <a:latin typeface="Aptos"/>
              </a:rPr>
              <a:t>✓</a:t>
            </a:r>
          </a:p>
        </p:txBody>
      </p:sp>
      <p:sp>
        <p:nvSpPr>
          <p:cNvPr id="31" name="TextBox 30"/>
          <p:cNvSpPr txBox="1"/>
          <p:nvPr/>
        </p:nvSpPr>
        <p:spPr>
          <a:xfrm>
            <a:off x="1481328" y="3959352"/>
            <a:ext cx="2103120" cy="274320"/>
          </a:xfrm>
          <a:prstGeom prst="rect">
            <a:avLst/>
          </a:prstGeom>
          <a:noFill/>
        </p:spPr>
        <p:txBody>
          <a:bodyPr wrap="square" lIns="36576" tIns="36576" rIns="36576" bIns="36576" anchor="t">
            <a:spAutoFit/>
          </a:bodyPr>
          <a:lstStyle/>
          <a:p>
            <a:pPr algn="l">
              <a:spcAft>
                <a:spcPts val="0"/>
              </a:spcAft>
            </a:pPr>
            <a:r>
              <a:rPr sz="1500" b="1">
                <a:solidFill>
                  <a:srgbClr val="F9F7EE"/>
                </a:solidFill>
                <a:latin typeface="Aptos"/>
              </a:rPr>
              <a:t>findOneAndUpdate</a:t>
            </a:r>
          </a:p>
        </p:txBody>
      </p:sp>
      <p:sp>
        <p:nvSpPr>
          <p:cNvPr id="32" name="TextBox 31"/>
          <p:cNvSpPr txBox="1"/>
          <p:nvPr/>
        </p:nvSpPr>
        <p:spPr>
          <a:xfrm>
            <a:off x="3401568" y="3959352"/>
            <a:ext cx="2240280" cy="246888"/>
          </a:xfrm>
          <a:prstGeom prst="rect">
            <a:avLst/>
          </a:prstGeom>
          <a:noFill/>
        </p:spPr>
        <p:txBody>
          <a:bodyPr wrap="square" lIns="36576" tIns="36576" rIns="36576" bIns="36576" anchor="t">
            <a:spAutoFit/>
          </a:bodyPr>
          <a:lstStyle/>
          <a:p>
            <a:pPr algn="l">
              <a:spcAft>
                <a:spcPts val="0"/>
              </a:spcAft>
            </a:pPr>
            <a:r>
              <a:rPr sz="1200" b="1">
                <a:solidFill>
                  <a:srgbClr val="AFE169"/>
                </a:solidFill>
                <a:latin typeface="Aptos"/>
              </a:rPr>
              <a:t>Atomic reservation</a:t>
            </a:r>
          </a:p>
        </p:txBody>
      </p:sp>
      <p:sp>
        <p:nvSpPr>
          <p:cNvPr id="33" name="TextBox 32"/>
          <p:cNvSpPr txBox="1"/>
          <p:nvPr/>
        </p:nvSpPr>
        <p:spPr>
          <a:xfrm>
            <a:off x="1481328" y="4325112"/>
            <a:ext cx="4114800" cy="228600"/>
          </a:xfrm>
          <a:prstGeom prst="rect">
            <a:avLst/>
          </a:prstGeom>
          <a:noFill/>
        </p:spPr>
        <p:txBody>
          <a:bodyPr wrap="square" lIns="36576" tIns="36576" rIns="36576" bIns="36576" anchor="t">
            <a:spAutoFit/>
          </a:bodyPr>
          <a:lstStyle/>
          <a:p>
            <a:pPr algn="l">
              <a:spcAft>
                <a:spcPts val="0"/>
              </a:spcAft>
            </a:pPr>
            <a:r>
              <a:rPr sz="1000" b="0">
                <a:solidFill>
                  <a:srgbClr val="BBCFC1"/>
                </a:solidFill>
                <a:latin typeface="Aptos"/>
              </a:rPr>
              <a:t>Blocks race-condition double claims</a:t>
            </a:r>
          </a:p>
        </p:txBody>
      </p:sp>
      <p:sp>
        <p:nvSpPr>
          <p:cNvPr id="34" name="Rounded Rectangle 33"/>
          <p:cNvSpPr/>
          <p:nvPr/>
        </p:nvSpPr>
        <p:spPr>
          <a:xfrm>
            <a:off x="6263640" y="3794760"/>
            <a:ext cx="5230368" cy="9601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Oval 34"/>
          <p:cNvSpPr/>
          <p:nvPr/>
        </p:nvSpPr>
        <p:spPr>
          <a:xfrm>
            <a:off x="6446520" y="4005072"/>
            <a:ext cx="475488" cy="475488"/>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46520" y="4105656"/>
            <a:ext cx="475488" cy="182880"/>
          </a:xfrm>
          <a:prstGeom prst="rect">
            <a:avLst/>
          </a:prstGeom>
          <a:noFill/>
        </p:spPr>
        <p:txBody>
          <a:bodyPr wrap="square" lIns="36576" tIns="36576" rIns="36576" bIns="36576" anchor="t">
            <a:spAutoFit/>
          </a:bodyPr>
          <a:lstStyle/>
          <a:p>
            <a:pPr algn="ctr">
              <a:spcAft>
                <a:spcPts val="0"/>
              </a:spcAft>
            </a:pPr>
            <a:r>
              <a:rPr sz="1300" b="1">
                <a:solidFill>
                  <a:srgbClr val="0A221C"/>
                </a:solidFill>
                <a:latin typeface="Aptos"/>
              </a:rPr>
              <a:t>✓</a:t>
            </a:r>
          </a:p>
        </p:txBody>
      </p:sp>
      <p:sp>
        <p:nvSpPr>
          <p:cNvPr id="37" name="TextBox 36"/>
          <p:cNvSpPr txBox="1"/>
          <p:nvPr/>
        </p:nvSpPr>
        <p:spPr>
          <a:xfrm>
            <a:off x="7086600" y="3959352"/>
            <a:ext cx="2103120" cy="274320"/>
          </a:xfrm>
          <a:prstGeom prst="rect">
            <a:avLst/>
          </a:prstGeom>
          <a:noFill/>
        </p:spPr>
        <p:txBody>
          <a:bodyPr wrap="square" lIns="36576" tIns="36576" rIns="36576" bIns="36576" anchor="t">
            <a:spAutoFit/>
          </a:bodyPr>
          <a:lstStyle/>
          <a:p>
            <a:pPr algn="l">
              <a:spcAft>
                <a:spcPts val="0"/>
              </a:spcAft>
            </a:pPr>
            <a:r>
              <a:rPr sz="1500" b="1">
                <a:solidFill>
                  <a:srgbClr val="F9F7EE"/>
                </a:solidFill>
                <a:latin typeface="Aptos"/>
              </a:rPr>
              <a:t>Regex + index</a:t>
            </a:r>
          </a:p>
        </p:txBody>
      </p:sp>
      <p:sp>
        <p:nvSpPr>
          <p:cNvPr id="38" name="TextBox 37"/>
          <p:cNvSpPr txBox="1"/>
          <p:nvPr/>
        </p:nvSpPr>
        <p:spPr>
          <a:xfrm>
            <a:off x="9006840" y="3959352"/>
            <a:ext cx="2240280" cy="246888"/>
          </a:xfrm>
          <a:prstGeom prst="rect">
            <a:avLst/>
          </a:prstGeom>
          <a:noFill/>
        </p:spPr>
        <p:txBody>
          <a:bodyPr wrap="square" lIns="36576" tIns="36576" rIns="36576" bIns="36576" anchor="t">
            <a:spAutoFit/>
          </a:bodyPr>
          <a:lstStyle/>
          <a:p>
            <a:pPr algn="l">
              <a:spcAft>
                <a:spcPts val="0"/>
              </a:spcAft>
            </a:pPr>
            <a:r>
              <a:rPr sz="1200" b="1">
                <a:solidFill>
                  <a:srgbClr val="30B570"/>
                </a:solidFill>
                <a:latin typeface="Aptos"/>
              </a:rPr>
              <a:t>Fast discovery</a:t>
            </a:r>
          </a:p>
        </p:txBody>
      </p:sp>
      <p:sp>
        <p:nvSpPr>
          <p:cNvPr id="39" name="TextBox 38"/>
          <p:cNvSpPr txBox="1"/>
          <p:nvPr/>
        </p:nvSpPr>
        <p:spPr>
          <a:xfrm>
            <a:off x="7086600" y="4325112"/>
            <a:ext cx="4114800" cy="228600"/>
          </a:xfrm>
          <a:prstGeom prst="rect">
            <a:avLst/>
          </a:prstGeom>
          <a:noFill/>
        </p:spPr>
        <p:txBody>
          <a:bodyPr wrap="square" lIns="36576" tIns="36576" rIns="36576" bIns="36576" anchor="t">
            <a:spAutoFit/>
          </a:bodyPr>
          <a:lstStyle/>
          <a:p>
            <a:pPr algn="l">
              <a:spcAft>
                <a:spcPts val="0"/>
              </a:spcAft>
            </a:pPr>
            <a:r>
              <a:rPr sz="1000" b="0">
                <a:solidFill>
                  <a:srgbClr val="BBCFC1"/>
                </a:solidFill>
                <a:latin typeface="Aptos"/>
              </a:rPr>
              <a:t>status + pickupTime index</a:t>
            </a:r>
          </a:p>
        </p:txBody>
      </p:sp>
      <p:sp>
        <p:nvSpPr>
          <p:cNvPr id="40" name="Rounded Rectangle 39"/>
          <p:cNvSpPr/>
          <p:nvPr/>
        </p:nvSpPr>
        <p:spPr>
          <a:xfrm>
            <a:off x="658368" y="5166360"/>
            <a:ext cx="10835640" cy="7315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4400" y="5330952"/>
            <a:ext cx="1920240" cy="274320"/>
          </a:xfrm>
          <a:prstGeom prst="rect">
            <a:avLst/>
          </a:prstGeom>
          <a:noFill/>
        </p:spPr>
        <p:txBody>
          <a:bodyPr wrap="square" lIns="36576" tIns="36576" rIns="36576" bIns="36576" anchor="t">
            <a:spAutoFit/>
          </a:bodyPr>
          <a:lstStyle/>
          <a:p>
            <a:pPr algn="l">
              <a:spcAft>
                <a:spcPts val="0"/>
              </a:spcAft>
            </a:pPr>
            <a:r>
              <a:rPr sz="1100" b="1">
                <a:solidFill>
                  <a:srgbClr val="FF8F42"/>
                </a:solidFill>
                <a:latin typeface="Aptos"/>
              </a:rPr>
              <a:t>COMPLEXITY</a:t>
            </a:r>
          </a:p>
        </p:txBody>
      </p:sp>
      <p:sp>
        <p:nvSpPr>
          <p:cNvPr id="42" name="TextBox 41"/>
          <p:cNvSpPr txBox="1"/>
          <p:nvPr/>
        </p:nvSpPr>
        <p:spPr>
          <a:xfrm>
            <a:off x="2743200" y="5321808"/>
            <a:ext cx="3291840" cy="292608"/>
          </a:xfrm>
          <a:prstGeom prst="rect">
            <a:avLst/>
          </a:prstGeom>
          <a:noFill/>
        </p:spPr>
        <p:txBody>
          <a:bodyPr wrap="square" lIns="36576" tIns="36576" rIns="36576" bIns="36576" anchor="t">
            <a:spAutoFit/>
          </a:bodyPr>
          <a:lstStyle/>
          <a:p>
            <a:pPr algn="l">
              <a:spcAft>
                <a:spcPts val="0"/>
              </a:spcAft>
            </a:pPr>
            <a:r>
              <a:rPr sz="1300" b="1">
                <a:solidFill>
                  <a:srgbClr val="F9F7EE"/>
                </a:solidFill>
                <a:latin typeface="Aptos"/>
              </a:rPr>
              <a:t>Indexed lookup ≈ O(log n)</a:t>
            </a:r>
          </a:p>
        </p:txBody>
      </p:sp>
      <p:sp>
        <p:nvSpPr>
          <p:cNvPr id="43" name="TextBox 42"/>
          <p:cNvSpPr txBox="1"/>
          <p:nvPr/>
        </p:nvSpPr>
        <p:spPr>
          <a:xfrm>
            <a:off x="6400800" y="5321808"/>
            <a:ext cx="4663440" cy="292608"/>
          </a:xfrm>
          <a:prstGeom prst="rect">
            <a:avLst/>
          </a:prstGeom>
          <a:noFill/>
        </p:spPr>
        <p:txBody>
          <a:bodyPr wrap="square" lIns="36576" tIns="36576" rIns="36576" bIns="36576" anchor="t">
            <a:spAutoFit/>
          </a:bodyPr>
          <a:lstStyle/>
          <a:p>
            <a:pPr algn="l">
              <a:spcAft>
                <a:spcPts val="0"/>
              </a:spcAft>
            </a:pPr>
            <a:r>
              <a:rPr sz="1300" b="1">
                <a:solidFill>
                  <a:srgbClr val="F9F7EE"/>
                </a:solidFill>
                <a:latin typeface="Aptos"/>
              </a:rPr>
              <a:t>Search/filter ≈ O(n), capped at 200 results</a:t>
            </a:r>
          </a:p>
        </p:txBody>
      </p:sp>
      <p:sp>
        <p:nvSpPr>
          <p:cNvPr id="44" name="TextBox 43"/>
          <p:cNvSpPr txBox="1"/>
          <p:nvPr/>
        </p:nvSpPr>
        <p:spPr>
          <a:xfrm>
            <a:off x="731520" y="6053328"/>
            <a:ext cx="10607040" cy="201168"/>
          </a:xfrm>
          <a:prstGeom prst="rect">
            <a:avLst/>
          </a:prstGeom>
          <a:noFill/>
        </p:spPr>
        <p:txBody>
          <a:bodyPr wrap="square" lIns="36576" tIns="36576" rIns="36576" bIns="36576" anchor="t">
            <a:spAutoFit/>
          </a:bodyPr>
          <a:lstStyle/>
          <a:p>
            <a:pPr algn="ctr">
              <a:spcAft>
                <a:spcPts val="0"/>
              </a:spcAft>
            </a:pPr>
            <a:r>
              <a:rPr sz="1100" b="0">
                <a:solidFill>
                  <a:srgbClr val="BBCFC1"/>
                </a:solidFill>
                <a:latin typeface="Aptos"/>
              </a:rPr>
              <a:t>Regex search fields: foodName • location • donor</a:t>
            </a:r>
          </a:p>
        </p:txBody>
      </p:sp>
      <p:sp>
        <p:nvSpPr>
          <p:cNvPr id="45" name="TextBox 44"/>
          <p:cNvSpPr txBox="1"/>
          <p:nvPr/>
        </p:nvSpPr>
        <p:spPr>
          <a:xfrm>
            <a:off x="594360" y="6510528"/>
            <a:ext cx="5486400" cy="164592"/>
          </a:xfrm>
          <a:prstGeom prst="rect">
            <a:avLst/>
          </a:prstGeom>
          <a:noFill/>
        </p:spPr>
        <p:txBody>
          <a:bodyPr wrap="square" lIns="36576" tIns="36576" rIns="36576" bIns="36576" anchor="t">
            <a:spAutoFit/>
          </a:bodyPr>
          <a:lstStyle/>
          <a:p>
            <a:pPr algn="l">
              <a:spcAft>
                <a:spcPts val="0"/>
              </a:spcAft>
            </a:pPr>
            <a:r>
              <a:rPr sz="800" b="1">
                <a:solidFill>
                  <a:srgbClr val="BBCFC1"/>
                </a:solidFill>
                <a:latin typeface="Aptos"/>
              </a:rPr>
              <a:t>FOODBRIDGE  •  FOOD FORWARD</a:t>
            </a:r>
          </a:p>
        </p:txBody>
      </p:sp>
      <p:sp>
        <p:nvSpPr>
          <p:cNvPr id="46" name="Oval 45"/>
          <p:cNvSpPr/>
          <p:nvPr/>
        </p:nvSpPr>
        <p:spPr>
          <a:xfrm>
            <a:off x="11018520" y="6492240"/>
            <a:ext cx="82296" cy="82296"/>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Oval 46"/>
          <p:cNvSpPr/>
          <p:nvPr/>
        </p:nvSpPr>
        <p:spPr>
          <a:xfrm>
            <a:off x="11219688" y="6492240"/>
            <a:ext cx="82296" cy="82296"/>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val 47"/>
          <p:cNvSpPr/>
          <p:nvPr/>
        </p:nvSpPr>
        <p:spPr>
          <a:xfrm>
            <a:off x="11420856" y="6492240"/>
            <a:ext cx="82296" cy="82296"/>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221C"/>
        </a:solidFill>
        <a:effectLst/>
      </p:bgPr>
    </p:bg>
    <p:spTree>
      <p:nvGrpSpPr>
        <p:cNvPr id="1" name=""/>
        <p:cNvGrpSpPr/>
        <p:nvPr/>
      </p:nvGrpSpPr>
      <p:grpSpPr>
        <a:xfrm>
          <a:off x="0" y="0"/>
          <a:ext cx="0" cy="0"/>
          <a:chOff x="0" y="0"/>
          <a:chExt cx="0" cy="0"/>
        </a:xfrm>
      </p:grpSpPr>
      <p:sp>
        <p:nvSpPr>
          <p:cNvPr id="2" name="TextBox 1"/>
          <p:cNvSpPr txBox="1"/>
          <p:nvPr/>
        </p:nvSpPr>
        <p:spPr>
          <a:xfrm>
            <a:off x="566928" y="320040"/>
            <a:ext cx="9875520" cy="502920"/>
          </a:xfrm>
          <a:prstGeom prst="rect">
            <a:avLst/>
          </a:prstGeom>
          <a:noFill/>
        </p:spPr>
        <p:txBody>
          <a:bodyPr wrap="square" lIns="36576" tIns="36576" rIns="36576" bIns="36576" anchor="t">
            <a:spAutoFit/>
          </a:bodyPr>
          <a:lstStyle/>
          <a:p>
            <a:pPr algn="l">
              <a:spcAft>
                <a:spcPts val="0"/>
              </a:spcAft>
            </a:pPr>
            <a:r>
              <a:rPr sz="2700" b="1">
                <a:solidFill>
                  <a:srgbClr val="F9F7EE"/>
                </a:solidFill>
                <a:latin typeface="Aptos"/>
              </a:rPr>
              <a:t>Demo &amp; Impact</a:t>
            </a:r>
          </a:p>
        </p:txBody>
      </p:sp>
      <p:sp>
        <p:nvSpPr>
          <p:cNvPr id="3" name="Rectangle 2"/>
          <p:cNvSpPr/>
          <p:nvPr/>
        </p:nvSpPr>
        <p:spPr>
          <a:xfrm>
            <a:off x="585216" y="932688"/>
            <a:ext cx="960120" cy="50292"/>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881360" y="347472"/>
            <a:ext cx="685800" cy="320040"/>
          </a:xfrm>
          <a:prstGeom prst="rect">
            <a:avLst/>
          </a:prstGeom>
          <a:noFill/>
        </p:spPr>
        <p:txBody>
          <a:bodyPr wrap="square" lIns="36576" tIns="36576" rIns="36576" bIns="36576" anchor="t">
            <a:spAutoFit/>
          </a:bodyPr>
          <a:lstStyle/>
          <a:p>
            <a:pPr algn="r">
              <a:spcAft>
                <a:spcPts val="0"/>
              </a:spcAft>
            </a:pPr>
            <a:r>
              <a:rPr sz="1000" b="1">
                <a:solidFill>
                  <a:srgbClr val="BBCFC1"/>
                </a:solidFill>
                <a:latin typeface="Aptos"/>
              </a:rPr>
              <a:t>06 / 07</a:t>
            </a:r>
          </a:p>
        </p:txBody>
      </p:sp>
      <p:sp>
        <p:nvSpPr>
          <p:cNvPr id="5" name="TextBox 4"/>
          <p:cNvSpPr txBox="1"/>
          <p:nvPr/>
        </p:nvSpPr>
        <p:spPr>
          <a:xfrm>
            <a:off x="658368" y="1143000"/>
            <a:ext cx="3657600" cy="320040"/>
          </a:xfrm>
          <a:prstGeom prst="rect">
            <a:avLst/>
          </a:prstGeom>
          <a:noFill/>
        </p:spPr>
        <p:txBody>
          <a:bodyPr wrap="square" lIns="36576" tIns="36576" rIns="36576" bIns="36576" anchor="t">
            <a:spAutoFit/>
          </a:bodyPr>
          <a:lstStyle/>
          <a:p>
            <a:pPr algn="l">
              <a:spcAft>
                <a:spcPts val="0"/>
              </a:spcAft>
            </a:pPr>
            <a:r>
              <a:rPr sz="1100" b="1">
                <a:solidFill>
                  <a:srgbClr val="AFE169"/>
                </a:solidFill>
                <a:latin typeface="Aptos"/>
              </a:rPr>
              <a:t>LIVE DEMO SCREENSHOTS</a:t>
            </a:r>
          </a:p>
        </p:txBody>
      </p:sp>
      <p:sp>
        <p:nvSpPr>
          <p:cNvPr id="6" name="Rounded Rectangle 5"/>
          <p:cNvSpPr/>
          <p:nvPr/>
        </p:nvSpPr>
        <p:spPr>
          <a:xfrm>
            <a:off x="658368" y="1500000"/>
            <a:ext cx="3383280" cy="1520000"/>
          </a:xfrm>
          <a:prstGeom prst="roundRect">
            <a:avLst/>
          </a:prstGeom>
          <a:solidFill>
            <a:srgbClr val="103329"/>
          </a:solidFill>
          <a:ln>
            <a:solidFill>
              <a:srgbClr val="30B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58368" y="1500000"/>
            <a:ext cx="3383280" cy="219456"/>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5528" y="1528288"/>
            <a:ext cx="3108960" cy="182880"/>
          </a:xfrm>
          <a:prstGeom prst="rect">
            <a:avLst/>
          </a:prstGeom>
          <a:noFill/>
        </p:spPr>
        <p:txBody>
          <a:bodyPr wrap="square" lIns="36576" tIns="36576" rIns="36576" bIns="36576" anchor="t">
            <a:spAutoFit/>
          </a:bodyPr>
          <a:lstStyle/>
          <a:p>
            <a:pPr algn="l">
              <a:spcAft>
                <a:spcPts val="0"/>
              </a:spcAft>
            </a:pPr>
            <a:r>
              <a:rPr sz="1000" b="1">
                <a:solidFill>
                  <a:srgbClr val="0A221C"/>
                </a:solidFill>
                <a:latin typeface="Aptos"/>
              </a:rPr>
              <a:t>01  Login / Register</a:t>
            </a:r>
          </a:p>
        </p:txBody>
      </p:sp>
      <p:sp>
        <p:nvSpPr>
          <p:cNvPr id="10" name="Rounded Rectangle 9"/>
          <p:cNvSpPr/>
          <p:nvPr/>
        </p:nvSpPr>
        <p:spPr>
          <a:xfrm>
            <a:off x="4389120" y="1500000"/>
            <a:ext cx="3383280" cy="1520000"/>
          </a:xfrm>
          <a:prstGeom prst="roundRect">
            <a:avLst/>
          </a:prstGeom>
          <a:solidFill>
            <a:srgbClr val="103329"/>
          </a:solidFill>
          <a:ln>
            <a:solidFill>
              <a:srgbClr val="30B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1500000"/>
            <a:ext cx="3383280" cy="219456"/>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26280" y="1528288"/>
            <a:ext cx="3108960" cy="182880"/>
          </a:xfrm>
          <a:prstGeom prst="rect">
            <a:avLst/>
          </a:prstGeom>
          <a:noFill/>
        </p:spPr>
        <p:txBody>
          <a:bodyPr wrap="square" lIns="36576" tIns="36576" rIns="36576" bIns="36576" anchor="t">
            <a:spAutoFit/>
          </a:bodyPr>
          <a:lstStyle/>
          <a:p>
            <a:pPr algn="l">
              <a:spcAft>
                <a:spcPts val="0"/>
              </a:spcAft>
            </a:pPr>
            <a:r>
              <a:rPr sz="1000" b="1">
                <a:solidFill>
                  <a:srgbClr val="0A221C"/>
                </a:solidFill>
                <a:latin typeface="Aptos"/>
              </a:rPr>
              <a:t>02  Donor Dashboard</a:t>
            </a:r>
          </a:p>
        </p:txBody>
      </p:sp>
      <p:sp>
        <p:nvSpPr>
          <p:cNvPr id="14" name="Rounded Rectangle 13"/>
          <p:cNvSpPr/>
          <p:nvPr/>
        </p:nvSpPr>
        <p:spPr>
          <a:xfrm>
            <a:off x="8119872" y="1500000"/>
            <a:ext cx="3383280" cy="1520000"/>
          </a:xfrm>
          <a:prstGeom prst="roundRect">
            <a:avLst/>
          </a:prstGeom>
          <a:solidFill>
            <a:srgbClr val="103329"/>
          </a:solidFill>
          <a:ln>
            <a:solidFill>
              <a:srgbClr val="30B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19872" y="1500000"/>
            <a:ext cx="3383280" cy="219456"/>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7032" y="1528288"/>
            <a:ext cx="3108960" cy="182880"/>
          </a:xfrm>
          <a:prstGeom prst="rect">
            <a:avLst/>
          </a:prstGeom>
          <a:noFill/>
        </p:spPr>
        <p:txBody>
          <a:bodyPr wrap="square" lIns="36576" tIns="36576" rIns="36576" bIns="36576" anchor="t">
            <a:spAutoFit/>
          </a:bodyPr>
          <a:lstStyle/>
          <a:p>
            <a:pPr algn="l">
              <a:spcAft>
                <a:spcPts val="0"/>
              </a:spcAft>
            </a:pPr>
            <a:r>
              <a:rPr sz="1000" b="1">
                <a:solidFill>
                  <a:srgbClr val="0A221C"/>
                </a:solidFill>
                <a:latin typeface="Aptos"/>
              </a:rPr>
              <a:t>03  Add Donation Form</a:t>
            </a:r>
          </a:p>
        </p:txBody>
      </p:sp>
      <p:sp>
        <p:nvSpPr>
          <p:cNvPr id="18" name="Rounded Rectangle 17"/>
          <p:cNvSpPr/>
          <p:nvPr/>
        </p:nvSpPr>
        <p:spPr>
          <a:xfrm>
            <a:off x="2514600" y="3180000"/>
            <a:ext cx="3383280" cy="1520000"/>
          </a:xfrm>
          <a:prstGeom prst="roundRect">
            <a:avLst/>
          </a:prstGeom>
          <a:solidFill>
            <a:srgbClr val="103329"/>
          </a:solidFill>
          <a:ln>
            <a:solidFill>
              <a:srgbClr val="30B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514600" y="3180000"/>
            <a:ext cx="3383280" cy="219456"/>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51760" y="3208288"/>
            <a:ext cx="3108960" cy="182880"/>
          </a:xfrm>
          <a:prstGeom prst="rect">
            <a:avLst/>
          </a:prstGeom>
          <a:noFill/>
        </p:spPr>
        <p:txBody>
          <a:bodyPr wrap="square" lIns="36576" tIns="36576" rIns="36576" bIns="36576" anchor="t">
            <a:spAutoFit/>
          </a:bodyPr>
          <a:lstStyle/>
          <a:p>
            <a:pPr algn="l">
              <a:spcAft>
                <a:spcPts val="0"/>
              </a:spcAft>
            </a:pPr>
            <a:r>
              <a:rPr sz="1000" b="1">
                <a:solidFill>
                  <a:srgbClr val="0A221C"/>
                </a:solidFill>
                <a:latin typeface="Aptos"/>
              </a:rPr>
              <a:t>04  NGO Filters</a:t>
            </a:r>
          </a:p>
        </p:txBody>
      </p:sp>
      <p:sp>
        <p:nvSpPr>
          <p:cNvPr id="22" name="Rounded Rectangle 21"/>
          <p:cNvSpPr/>
          <p:nvPr/>
        </p:nvSpPr>
        <p:spPr>
          <a:xfrm>
            <a:off x="6263640" y="3180000"/>
            <a:ext cx="3383280" cy="1520000"/>
          </a:xfrm>
          <a:prstGeom prst="roundRect">
            <a:avLst/>
          </a:prstGeom>
          <a:solidFill>
            <a:srgbClr val="103329"/>
          </a:solidFill>
          <a:ln>
            <a:solidFill>
              <a:srgbClr val="30B57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63640" y="3180000"/>
            <a:ext cx="3383280" cy="219456"/>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3208288"/>
            <a:ext cx="3108960" cy="182880"/>
          </a:xfrm>
          <a:prstGeom prst="rect">
            <a:avLst/>
          </a:prstGeom>
          <a:noFill/>
        </p:spPr>
        <p:txBody>
          <a:bodyPr wrap="square" lIns="36576" tIns="36576" rIns="36576" bIns="36576" anchor="t">
            <a:spAutoFit/>
          </a:bodyPr>
          <a:lstStyle/>
          <a:p>
            <a:pPr algn="l">
              <a:spcAft>
                <a:spcPts val="0"/>
              </a:spcAft>
            </a:pPr>
            <a:r>
              <a:rPr sz="1000" b="1">
                <a:solidFill>
                  <a:srgbClr val="0A221C"/>
                </a:solidFill>
                <a:latin typeface="Aptos"/>
              </a:rPr>
              <a:t>05  Status Change</a:t>
            </a:r>
          </a:p>
        </p:txBody>
      </p:sp>
      <p:sp>
        <p:nvSpPr>
          <p:cNvPr id="25" name="TextBox 24"/>
          <p:cNvSpPr txBox="1"/>
          <p:nvPr/>
        </p:nvSpPr>
        <p:spPr>
          <a:xfrm>
            <a:off x="6446520" y="3889708"/>
            <a:ext cx="3017520" cy="320040"/>
          </a:xfrm>
          <a:prstGeom prst="rect">
            <a:avLst/>
          </a:prstGeom>
          <a:noFill/>
        </p:spPr>
        <p:txBody>
          <a:bodyPr wrap="square" lIns="36576" tIns="36576" rIns="36576" bIns="36576" anchor="t">
            <a:spAutoFit/>
          </a:bodyPr>
          <a:lstStyle/>
          <a:p>
            <a:pPr algn="ctr">
              <a:spcAft>
                <a:spcPts val="0"/>
              </a:spcAft>
            </a:pPr>
            <a:r>
              <a:rPr sz="1100" b="1">
                <a:solidFill>
                  <a:srgbClr val="BBCFC1"/>
                </a:solidFill>
                <a:latin typeface="Aptos"/>
              </a:rPr>
              <a:t>DROP SCREENSHOT HERE</a:t>
            </a:r>
          </a:p>
        </p:txBody>
      </p:sp>
      <p:sp>
        <p:nvSpPr>
          <p:cNvPr id="26" name="Rounded Rectangle 25"/>
          <p:cNvSpPr/>
          <p:nvPr/>
        </p:nvSpPr>
        <p:spPr>
          <a:xfrm>
            <a:off x="685800" y="4879160"/>
            <a:ext cx="5166360" cy="7315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071184"/>
            <a:ext cx="1097280" cy="256032"/>
          </a:xfrm>
          <a:prstGeom prst="rect">
            <a:avLst/>
          </a:prstGeom>
          <a:noFill/>
        </p:spPr>
        <p:txBody>
          <a:bodyPr wrap="square" lIns="36576" tIns="36576" rIns="36576" bIns="36576" anchor="t">
            <a:spAutoFit/>
          </a:bodyPr>
          <a:lstStyle/>
          <a:p>
            <a:pPr algn="l">
              <a:spcAft>
                <a:spcPts val="0"/>
              </a:spcAft>
            </a:pPr>
            <a:r>
              <a:rPr sz="1000" b="1">
                <a:solidFill>
                  <a:srgbClr val="FF8F42"/>
                </a:solidFill>
                <a:latin typeface="Aptos"/>
              </a:rPr>
              <a:t>SAMPLE</a:t>
            </a:r>
          </a:p>
        </p:txBody>
      </p:sp>
      <p:sp>
        <p:nvSpPr>
          <p:cNvPr id="28" name="Rounded Rectangle 27"/>
          <p:cNvSpPr/>
          <p:nvPr/>
        </p:nvSpPr>
        <p:spPr>
          <a:xfrm>
            <a:off x="2011680" y="5034608"/>
            <a:ext cx="1051560" cy="347472"/>
          </a:xfrm>
          <a:prstGeom prst="round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011680" y="5126048"/>
            <a:ext cx="1051560" cy="164592"/>
          </a:xfrm>
          <a:prstGeom prst="rect">
            <a:avLst/>
          </a:prstGeom>
          <a:noFill/>
        </p:spPr>
        <p:txBody>
          <a:bodyPr wrap="square" lIns="36576" tIns="36576" rIns="36576" bIns="36576" anchor="t">
            <a:spAutoFit/>
          </a:bodyPr>
          <a:lstStyle/>
          <a:p>
            <a:pPr algn="ctr">
              <a:spcAft>
                <a:spcPts val="0"/>
              </a:spcAft>
            </a:pPr>
            <a:r>
              <a:rPr sz="900" b="1">
                <a:solidFill>
                  <a:srgbClr val="0A221C"/>
                </a:solidFill>
                <a:latin typeface="Aptos"/>
              </a:rPr>
              <a:t>Available</a:t>
            </a:r>
          </a:p>
        </p:txBody>
      </p:sp>
      <p:cxnSp>
        <p:nvCxnSpPr>
          <p:cNvPr id="30" name="Connector 29"/>
          <p:cNvCxnSpPr/>
          <p:nvPr/>
        </p:nvCxnSpPr>
        <p:spPr>
          <a:xfrm>
            <a:off x="3063240" y="5199200"/>
            <a:ext cx="109728" cy="0"/>
          </a:xfrm>
          <a:prstGeom prst="line">
            <a:avLst/>
          </a:prstGeom>
          <a:ln w="12700">
            <a:solidFill>
              <a:srgbClr val="F9F7EE"/>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200400" y="5034608"/>
            <a:ext cx="1051560" cy="347472"/>
          </a:xfrm>
          <a:prstGeom prst="round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3200400" y="5126048"/>
            <a:ext cx="1051560" cy="164592"/>
          </a:xfrm>
          <a:prstGeom prst="rect">
            <a:avLst/>
          </a:prstGeom>
          <a:noFill/>
        </p:spPr>
        <p:txBody>
          <a:bodyPr wrap="square" lIns="36576" tIns="36576" rIns="36576" bIns="36576" anchor="t">
            <a:spAutoFit/>
          </a:bodyPr>
          <a:lstStyle/>
          <a:p>
            <a:pPr algn="ctr">
              <a:spcAft>
                <a:spcPts val="0"/>
              </a:spcAft>
            </a:pPr>
            <a:r>
              <a:rPr sz="900" b="1">
                <a:solidFill>
                  <a:srgbClr val="0A221C"/>
                </a:solidFill>
                <a:latin typeface="Aptos"/>
              </a:rPr>
              <a:t>Reserved</a:t>
            </a:r>
          </a:p>
        </p:txBody>
      </p:sp>
      <p:cxnSp>
        <p:nvCxnSpPr>
          <p:cNvPr id="33" name="Connector 32"/>
          <p:cNvCxnSpPr/>
          <p:nvPr/>
        </p:nvCxnSpPr>
        <p:spPr>
          <a:xfrm>
            <a:off x="4251960" y="5199200"/>
            <a:ext cx="109728" cy="0"/>
          </a:xfrm>
          <a:prstGeom prst="line">
            <a:avLst/>
          </a:prstGeom>
          <a:ln w="12700">
            <a:solidFill>
              <a:srgbClr val="F9F7EE"/>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4389120" y="5034608"/>
            <a:ext cx="1051560" cy="347472"/>
          </a:xfrm>
          <a:prstGeom prst="roundRect">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389120" y="5126048"/>
            <a:ext cx="1051560" cy="164592"/>
          </a:xfrm>
          <a:prstGeom prst="rect">
            <a:avLst/>
          </a:prstGeom>
          <a:noFill/>
        </p:spPr>
        <p:txBody>
          <a:bodyPr wrap="square" lIns="36576" tIns="36576" rIns="36576" bIns="36576" anchor="t">
            <a:spAutoFit/>
          </a:bodyPr>
          <a:lstStyle/>
          <a:p>
            <a:pPr algn="ctr">
              <a:spcAft>
                <a:spcPts val="0"/>
              </a:spcAft>
            </a:pPr>
            <a:r>
              <a:rPr sz="900" b="1">
                <a:solidFill>
                  <a:srgbClr val="0A221C"/>
                </a:solidFill>
                <a:latin typeface="Aptos"/>
              </a:rPr>
              <a:t>Collected</a:t>
            </a:r>
          </a:p>
        </p:txBody>
      </p:sp>
      <p:sp>
        <p:nvSpPr>
          <p:cNvPr id="36" name="Rounded Rectangle 35"/>
          <p:cNvSpPr/>
          <p:nvPr/>
        </p:nvSpPr>
        <p:spPr>
          <a:xfrm>
            <a:off x="6172200" y="4879160"/>
            <a:ext cx="5303520" cy="73152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0" y="5062040"/>
            <a:ext cx="1188720" cy="274320"/>
          </a:xfrm>
          <a:prstGeom prst="rect">
            <a:avLst/>
          </a:prstGeom>
          <a:noFill/>
        </p:spPr>
        <p:txBody>
          <a:bodyPr wrap="square" lIns="36576" tIns="36576" rIns="36576" bIns="36576" anchor="t">
            <a:spAutoFit/>
          </a:bodyPr>
          <a:lstStyle/>
          <a:p>
            <a:pPr algn="l">
              <a:spcAft>
                <a:spcPts val="0"/>
              </a:spcAft>
            </a:pPr>
            <a:r>
              <a:rPr sz="2000" b="1">
                <a:solidFill>
                  <a:srgbClr val="AFE169"/>
                </a:solidFill>
                <a:latin typeface="Aptos"/>
              </a:rPr>
              <a:t>6 / 6</a:t>
            </a:r>
          </a:p>
        </p:txBody>
      </p:sp>
      <p:sp>
        <p:nvSpPr>
          <p:cNvPr id="38" name="TextBox 37"/>
          <p:cNvSpPr txBox="1"/>
          <p:nvPr/>
        </p:nvSpPr>
        <p:spPr>
          <a:xfrm>
            <a:off x="7589520" y="5062040"/>
            <a:ext cx="3611880" cy="274320"/>
          </a:xfrm>
          <a:prstGeom prst="rect">
            <a:avLst/>
          </a:prstGeom>
          <a:noFill/>
        </p:spPr>
        <p:txBody>
          <a:bodyPr wrap="square" lIns="36576" tIns="36576" rIns="36576" bIns="36576" anchor="t">
            <a:spAutoFit/>
          </a:bodyPr>
          <a:lstStyle/>
          <a:p>
            <a:pPr algn="l">
              <a:spcAft>
                <a:spcPts val="0"/>
              </a:spcAft>
            </a:pPr>
            <a:r>
              <a:rPr sz="1300" b="1">
                <a:solidFill>
                  <a:srgbClr val="F9F7EE"/>
                </a:solidFill>
                <a:latin typeface="Aptos"/>
              </a:rPr>
              <a:t>Objectives achieved*</a:t>
            </a:r>
          </a:p>
        </p:txBody>
      </p:sp>
      <p:sp>
        <p:nvSpPr>
          <p:cNvPr id="39" name="TextBox 38"/>
          <p:cNvSpPr txBox="1"/>
          <p:nvPr/>
        </p:nvSpPr>
        <p:spPr>
          <a:xfrm>
            <a:off x="731520" y="5715000"/>
            <a:ext cx="10607040" cy="365760"/>
          </a:xfrm>
          <a:prstGeom prst="rect">
            <a:avLst/>
          </a:prstGeom>
          <a:noFill/>
        </p:spPr>
        <p:txBody>
          <a:bodyPr wrap="square" lIns="36576" tIns="36576" rIns="36576" bIns="36576" anchor="t">
            <a:spAutoFit/>
          </a:bodyPr>
          <a:lstStyle/>
          <a:p>
            <a:pPr algn="ctr">
              <a:spcAft>
                <a:spcPts val="0"/>
              </a:spcAft>
            </a:pPr>
            <a:r>
              <a:rPr sz="1700" b="1">
                <a:solidFill>
                  <a:srgbClr val="FF8F42"/>
                </a:solidFill>
                <a:latin typeface="Aptos"/>
              </a:rPr>
              <a:t>Less waste   •   Faster pickup   •   More meals reaching people</a:t>
            </a:r>
          </a:p>
        </p:txBody>
      </p:sp>
      <p:sp>
        <p:nvSpPr>
          <p:cNvPr id="40" name="TextBox 39"/>
          <p:cNvSpPr txBox="1"/>
          <p:nvPr/>
        </p:nvSpPr>
        <p:spPr>
          <a:xfrm>
            <a:off x="731520" y="6144768"/>
            <a:ext cx="10607040" cy="182880"/>
          </a:xfrm>
          <a:prstGeom prst="rect">
            <a:avLst/>
          </a:prstGeom>
          <a:noFill/>
        </p:spPr>
        <p:txBody>
          <a:bodyPr wrap="square" lIns="36576" tIns="36576" rIns="36576" bIns="36576" anchor="t">
            <a:spAutoFit/>
          </a:bodyPr>
          <a:lstStyle/>
          <a:p>
            <a:pPr algn="ctr">
              <a:spcAft>
                <a:spcPts val="0"/>
              </a:spcAft>
            </a:pPr>
            <a:r>
              <a:rPr sz="800" b="0">
                <a:solidFill>
                  <a:srgbClr val="BBCFC1"/>
                </a:solidFill>
                <a:latin typeface="Aptos"/>
              </a:rPr>
              <a:t>*As specified for the prototype: MERN • CRUD • REST • UI • auth/roles • clear results</a:t>
            </a:r>
          </a:p>
        </p:txBody>
      </p:sp>
      <p:sp>
        <p:nvSpPr>
          <p:cNvPr id="41" name="TextBox 40"/>
          <p:cNvSpPr txBox="1"/>
          <p:nvPr/>
        </p:nvSpPr>
        <p:spPr>
          <a:xfrm>
            <a:off x="594360" y="6510528"/>
            <a:ext cx="5486400" cy="164592"/>
          </a:xfrm>
          <a:prstGeom prst="rect">
            <a:avLst/>
          </a:prstGeom>
          <a:noFill/>
        </p:spPr>
        <p:txBody>
          <a:bodyPr wrap="square" lIns="36576" tIns="36576" rIns="36576" bIns="36576" anchor="t">
            <a:spAutoFit/>
          </a:bodyPr>
          <a:lstStyle/>
          <a:p>
            <a:pPr algn="l">
              <a:spcAft>
                <a:spcPts val="0"/>
              </a:spcAft>
            </a:pPr>
            <a:r>
              <a:rPr sz="800" b="1">
                <a:solidFill>
                  <a:srgbClr val="BBCFC1"/>
                </a:solidFill>
                <a:latin typeface="Aptos"/>
              </a:rPr>
              <a:t>FOODBRIDGE  •  FOOD FORWARD</a:t>
            </a:r>
          </a:p>
        </p:txBody>
      </p:sp>
      <p:sp>
        <p:nvSpPr>
          <p:cNvPr id="42" name="Oval 41"/>
          <p:cNvSpPr/>
          <p:nvPr/>
        </p:nvSpPr>
        <p:spPr>
          <a:xfrm>
            <a:off x="11018520" y="6492240"/>
            <a:ext cx="82296" cy="82296"/>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11219688" y="6492240"/>
            <a:ext cx="82296" cy="82296"/>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11420856" y="6492240"/>
            <a:ext cx="82296" cy="82296"/>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5" name="Picture 44" descr="Login.jpg"/>
          <p:cNvPicPr>
            <a:picLocks noChangeAspect="1"/>
          </p:cNvPicPr>
          <p:nvPr/>
        </p:nvPicPr>
        <p:blipFill>
          <a:blip r:embed="rId3"/>
          <a:stretch>
            <a:fillRect/>
          </a:stretch>
        </p:blipFill>
        <p:spPr>
          <a:xfrm>
            <a:off x="704088" y="1765821"/>
            <a:ext cx="3291840" cy="1207814"/>
          </a:xfrm>
          <a:prstGeom prst="rect">
            <a:avLst/>
          </a:prstGeom>
        </p:spPr>
      </p:pic>
      <p:pic>
        <p:nvPicPr>
          <p:cNvPr id="46" name="Picture 45" descr="Donor.jpg"/>
          <p:cNvPicPr>
            <a:picLocks noChangeAspect="1"/>
          </p:cNvPicPr>
          <p:nvPr/>
        </p:nvPicPr>
        <p:blipFill>
          <a:blip r:embed="rId4"/>
          <a:stretch>
            <a:fillRect/>
          </a:stretch>
        </p:blipFill>
        <p:spPr>
          <a:xfrm>
            <a:off x="4434840" y="1765881"/>
            <a:ext cx="3291840" cy="1207693"/>
          </a:xfrm>
          <a:prstGeom prst="rect">
            <a:avLst/>
          </a:prstGeom>
        </p:spPr>
      </p:pic>
      <p:pic>
        <p:nvPicPr>
          <p:cNvPr id="47" name="Picture 46" descr="Add.jpg"/>
          <p:cNvPicPr>
            <a:picLocks noChangeAspect="1"/>
          </p:cNvPicPr>
          <p:nvPr/>
        </p:nvPicPr>
        <p:blipFill>
          <a:blip r:embed="rId5"/>
          <a:stretch>
            <a:fillRect/>
          </a:stretch>
        </p:blipFill>
        <p:spPr>
          <a:xfrm>
            <a:off x="8660819" y="1765176"/>
            <a:ext cx="2301386" cy="1209104"/>
          </a:xfrm>
          <a:prstGeom prst="rect">
            <a:avLst/>
          </a:prstGeom>
        </p:spPr>
      </p:pic>
      <p:pic>
        <p:nvPicPr>
          <p:cNvPr id="48" name="Picture 47" descr="NGO.jpg"/>
          <p:cNvPicPr>
            <a:picLocks noChangeAspect="1"/>
          </p:cNvPicPr>
          <p:nvPr/>
        </p:nvPicPr>
        <p:blipFill>
          <a:blip r:embed="rId6"/>
          <a:stretch>
            <a:fillRect/>
          </a:stretch>
        </p:blipFill>
        <p:spPr>
          <a:xfrm>
            <a:off x="2560320" y="3446308"/>
            <a:ext cx="3291840" cy="1206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221C"/>
        </a:solidFill>
        <a:effectLst/>
      </p:bgPr>
    </p:bg>
    <p:spTree>
      <p:nvGrpSpPr>
        <p:cNvPr id="1" name=""/>
        <p:cNvGrpSpPr/>
        <p:nvPr/>
      </p:nvGrpSpPr>
      <p:grpSpPr>
        <a:xfrm>
          <a:off x="0" y="0"/>
          <a:ext cx="0" cy="0"/>
          <a:chOff x="0" y="0"/>
          <a:chExt cx="0" cy="0"/>
        </a:xfrm>
      </p:grpSpPr>
      <p:sp>
        <p:nvSpPr>
          <p:cNvPr id="2" name="Oval 1"/>
          <p:cNvSpPr/>
          <p:nvPr/>
        </p:nvSpPr>
        <p:spPr>
          <a:xfrm>
            <a:off x="8458200" y="-640080"/>
            <a:ext cx="4572000" cy="4572000"/>
          </a:xfrm>
          <a:prstGeom prst="ellipse">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326880" y="320040"/>
            <a:ext cx="2834640" cy="2834640"/>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10012680" y="1005840"/>
            <a:ext cx="1463040" cy="1463040"/>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384048"/>
            <a:ext cx="4572000" cy="274320"/>
          </a:xfrm>
          <a:prstGeom prst="rect">
            <a:avLst/>
          </a:prstGeom>
          <a:noFill/>
        </p:spPr>
        <p:txBody>
          <a:bodyPr wrap="square" lIns="36576" tIns="36576" rIns="36576" bIns="36576" anchor="t">
            <a:spAutoFit/>
          </a:bodyPr>
          <a:lstStyle/>
          <a:p>
            <a:pPr algn="l">
              <a:spcAft>
                <a:spcPts val="0"/>
              </a:spcAft>
            </a:pPr>
            <a:r>
              <a:rPr sz="1000" b="1">
                <a:solidFill>
                  <a:srgbClr val="AFE169"/>
                </a:solidFill>
                <a:latin typeface="Aptos"/>
              </a:rPr>
              <a:t>FROM PROTOTYPE TO COMMUNITY IMPACT</a:t>
            </a:r>
          </a:p>
        </p:txBody>
      </p:sp>
      <p:sp>
        <p:nvSpPr>
          <p:cNvPr id="6" name="TextBox 5"/>
          <p:cNvSpPr txBox="1"/>
          <p:nvPr/>
        </p:nvSpPr>
        <p:spPr>
          <a:xfrm>
            <a:off x="658368" y="960120"/>
            <a:ext cx="7040880" cy="685800"/>
          </a:xfrm>
          <a:prstGeom prst="rect">
            <a:avLst/>
          </a:prstGeom>
          <a:noFill/>
        </p:spPr>
        <p:txBody>
          <a:bodyPr wrap="square" lIns="36576" tIns="36576" rIns="36576" bIns="36576" anchor="t">
            <a:spAutoFit/>
          </a:bodyPr>
          <a:lstStyle/>
          <a:p>
            <a:pPr algn="l">
              <a:spcAft>
                <a:spcPts val="0"/>
              </a:spcAft>
            </a:pPr>
            <a:r>
              <a:rPr sz="3400" b="1">
                <a:solidFill>
                  <a:srgbClr val="F9F7EE"/>
                </a:solidFill>
                <a:latin typeface="Aptos"/>
              </a:rPr>
              <a:t>Future Vision</a:t>
            </a:r>
          </a:p>
        </p:txBody>
      </p:sp>
      <p:sp>
        <p:nvSpPr>
          <p:cNvPr id="7" name="TextBox 6"/>
          <p:cNvSpPr txBox="1"/>
          <p:nvPr/>
        </p:nvSpPr>
        <p:spPr>
          <a:xfrm>
            <a:off x="685800" y="1737360"/>
            <a:ext cx="6858000" cy="411480"/>
          </a:xfrm>
          <a:prstGeom prst="rect">
            <a:avLst/>
          </a:prstGeom>
          <a:noFill/>
        </p:spPr>
        <p:txBody>
          <a:bodyPr wrap="square" lIns="36576" tIns="36576" rIns="36576" bIns="36576" anchor="t">
            <a:spAutoFit/>
          </a:bodyPr>
          <a:lstStyle/>
          <a:p>
            <a:pPr algn="l">
              <a:spcAft>
                <a:spcPts val="0"/>
              </a:spcAft>
            </a:pPr>
            <a:r>
              <a:rPr sz="2000" b="1">
                <a:solidFill>
                  <a:srgbClr val="FF8F42"/>
                </a:solidFill>
                <a:latin typeface="Aptos"/>
              </a:rPr>
              <a:t>Surplus food should feed people, not landfills.</a:t>
            </a:r>
          </a:p>
        </p:txBody>
      </p:sp>
      <p:sp>
        <p:nvSpPr>
          <p:cNvPr id="8" name="Rounded Rectangle 7"/>
          <p:cNvSpPr/>
          <p:nvPr/>
        </p:nvSpPr>
        <p:spPr>
          <a:xfrm>
            <a:off x="685800" y="2560320"/>
            <a:ext cx="3337560" cy="123444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2560320"/>
            <a:ext cx="64008" cy="1234440"/>
          </a:xfrm>
          <a:prstGeom prst="rect">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86968" y="2761488"/>
            <a:ext cx="457200" cy="457200"/>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281635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12" name="TextBox 11"/>
          <p:cNvSpPr txBox="1"/>
          <p:nvPr/>
        </p:nvSpPr>
        <p:spPr>
          <a:xfrm>
            <a:off x="1463040" y="2761488"/>
            <a:ext cx="2377439"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CONNECT</a:t>
            </a:r>
          </a:p>
        </p:txBody>
      </p:sp>
      <p:sp>
        <p:nvSpPr>
          <p:cNvPr id="13" name="TextBox 12"/>
          <p:cNvSpPr txBox="1"/>
          <p:nvPr/>
        </p:nvSpPr>
        <p:spPr>
          <a:xfrm>
            <a:off x="914400" y="3255263"/>
            <a:ext cx="2880360" cy="45720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Maps • SMS / WhatsApp alerts</a:t>
            </a:r>
          </a:p>
        </p:txBody>
      </p:sp>
      <p:sp>
        <p:nvSpPr>
          <p:cNvPr id="14" name="Rounded Rectangle 13"/>
          <p:cNvSpPr/>
          <p:nvPr/>
        </p:nvSpPr>
        <p:spPr>
          <a:xfrm>
            <a:off x="4434840" y="2560320"/>
            <a:ext cx="3337560" cy="123444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34840" y="2560320"/>
            <a:ext cx="64008" cy="1234440"/>
          </a:xfrm>
          <a:prstGeom prst="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4636007" y="2761488"/>
            <a:ext cx="457200" cy="457200"/>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36007" y="281635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18" name="TextBox 17"/>
          <p:cNvSpPr txBox="1"/>
          <p:nvPr/>
        </p:nvSpPr>
        <p:spPr>
          <a:xfrm>
            <a:off x="5212079" y="2761488"/>
            <a:ext cx="237744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BUILD TRUST</a:t>
            </a:r>
          </a:p>
        </p:txBody>
      </p:sp>
      <p:sp>
        <p:nvSpPr>
          <p:cNvPr id="19" name="TextBox 18"/>
          <p:cNvSpPr txBox="1"/>
          <p:nvPr/>
        </p:nvSpPr>
        <p:spPr>
          <a:xfrm>
            <a:off x="4663440" y="3255263"/>
            <a:ext cx="2880360" cy="45720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NGO verification • meals-saved dashboard</a:t>
            </a:r>
          </a:p>
        </p:txBody>
      </p:sp>
      <p:sp>
        <p:nvSpPr>
          <p:cNvPr id="20" name="Rounded Rectangle 19"/>
          <p:cNvSpPr/>
          <p:nvPr/>
        </p:nvSpPr>
        <p:spPr>
          <a:xfrm>
            <a:off x="8183879" y="2560320"/>
            <a:ext cx="3337560" cy="1234440"/>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183879" y="2560320"/>
            <a:ext cx="64008" cy="1234440"/>
          </a:xfrm>
          <a:prstGeom prst="rect">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385048" y="2761488"/>
            <a:ext cx="457200" cy="457200"/>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385048" y="2816352"/>
            <a:ext cx="457200" cy="274320"/>
          </a:xfrm>
          <a:prstGeom prst="rect">
            <a:avLst/>
          </a:prstGeom>
          <a:noFill/>
        </p:spPr>
        <p:txBody>
          <a:bodyPr wrap="square" lIns="36576" tIns="36576" rIns="36576" bIns="36576" anchor="t">
            <a:spAutoFit/>
          </a:bodyPr>
          <a:lstStyle/>
          <a:p>
            <a:pPr algn="ctr">
              <a:spcAft>
                <a:spcPts val="0"/>
              </a:spcAft>
            </a:pPr>
            <a:r>
              <a:rPr sz="1700" b="1">
                <a:solidFill>
                  <a:srgbClr val="0A221C"/>
                </a:solidFill>
                <a:latin typeface="Aptos"/>
              </a:rPr>
              <a:t>↗</a:t>
            </a:r>
          </a:p>
        </p:txBody>
      </p:sp>
      <p:sp>
        <p:nvSpPr>
          <p:cNvPr id="24" name="TextBox 23"/>
          <p:cNvSpPr txBox="1"/>
          <p:nvPr/>
        </p:nvSpPr>
        <p:spPr>
          <a:xfrm>
            <a:off x="8961119" y="2761488"/>
            <a:ext cx="2377440" cy="347472"/>
          </a:xfrm>
          <a:prstGeom prst="rect">
            <a:avLst/>
          </a:prstGeom>
          <a:noFill/>
        </p:spPr>
        <p:txBody>
          <a:bodyPr wrap="square" lIns="36576" tIns="36576" rIns="36576" bIns="36576" anchor="t">
            <a:spAutoFit/>
          </a:bodyPr>
          <a:lstStyle/>
          <a:p>
            <a:pPr algn="l">
              <a:spcAft>
                <a:spcPts val="0"/>
              </a:spcAft>
            </a:pPr>
            <a:r>
              <a:rPr sz="1600" b="1">
                <a:solidFill>
                  <a:srgbClr val="F9F7EE"/>
                </a:solidFill>
                <a:latin typeface="Aptos"/>
              </a:rPr>
              <a:t>SCALE</a:t>
            </a:r>
          </a:p>
        </p:txBody>
      </p:sp>
      <p:sp>
        <p:nvSpPr>
          <p:cNvPr id="25" name="TextBox 24"/>
          <p:cNvSpPr txBox="1"/>
          <p:nvPr/>
        </p:nvSpPr>
        <p:spPr>
          <a:xfrm>
            <a:off x="8412480" y="3255263"/>
            <a:ext cx="2880360" cy="457200"/>
          </a:xfrm>
          <a:prstGeom prst="rect">
            <a:avLst/>
          </a:prstGeom>
          <a:noFill/>
        </p:spPr>
        <p:txBody>
          <a:bodyPr wrap="square" lIns="36576" tIns="36576" rIns="36576" bIns="36576" anchor="t">
            <a:spAutoFit/>
          </a:bodyPr>
          <a:lstStyle/>
          <a:p>
            <a:pPr algn="l">
              <a:spcAft>
                <a:spcPts val="0"/>
              </a:spcAft>
            </a:pPr>
            <a:r>
              <a:rPr sz="1200" b="0">
                <a:solidFill>
                  <a:srgbClr val="BBCFC1"/>
                </a:solidFill>
                <a:latin typeface="Aptos"/>
              </a:rPr>
              <a:t>Cloud • caching • rate limits • pagination</a:t>
            </a:r>
          </a:p>
        </p:txBody>
      </p:sp>
      <p:sp>
        <p:nvSpPr>
          <p:cNvPr id="26" name="Rounded Rectangle 25"/>
          <p:cNvSpPr/>
          <p:nvPr/>
        </p:nvSpPr>
        <p:spPr>
          <a:xfrm>
            <a:off x="685800" y="4160520"/>
            <a:ext cx="6583680" cy="713232"/>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4370832"/>
            <a:ext cx="1554480" cy="256032"/>
          </a:xfrm>
          <a:prstGeom prst="rect">
            <a:avLst/>
          </a:prstGeom>
          <a:noFill/>
        </p:spPr>
        <p:txBody>
          <a:bodyPr wrap="square" lIns="36576" tIns="36576" rIns="36576" bIns="36576" anchor="t">
            <a:spAutoFit/>
          </a:bodyPr>
          <a:lstStyle/>
          <a:p>
            <a:pPr algn="l">
              <a:spcAft>
                <a:spcPts val="0"/>
              </a:spcAft>
            </a:pPr>
            <a:r>
              <a:rPr sz="1200" b="1">
                <a:solidFill>
                  <a:srgbClr val="30B570"/>
                </a:solidFill>
                <a:latin typeface="Aptos"/>
              </a:rPr>
              <a:t>TODAY</a:t>
            </a:r>
          </a:p>
        </p:txBody>
      </p:sp>
      <p:sp>
        <p:nvSpPr>
          <p:cNvPr id="28" name="TextBox 27"/>
          <p:cNvSpPr txBox="1"/>
          <p:nvPr/>
        </p:nvSpPr>
        <p:spPr>
          <a:xfrm>
            <a:off x="2286000" y="4334256"/>
            <a:ext cx="4572000" cy="320040"/>
          </a:xfrm>
          <a:prstGeom prst="rect">
            <a:avLst/>
          </a:prstGeom>
          <a:noFill/>
        </p:spPr>
        <p:txBody>
          <a:bodyPr wrap="square" lIns="36576" tIns="36576" rIns="36576" bIns="36576" anchor="t">
            <a:spAutoFit/>
          </a:bodyPr>
          <a:lstStyle/>
          <a:p>
            <a:pPr algn="l">
              <a:spcAft>
                <a:spcPts val="0"/>
              </a:spcAft>
            </a:pPr>
            <a:r>
              <a:rPr sz="1300" b="1">
                <a:solidFill>
                  <a:srgbClr val="F9F7EE"/>
                </a:solidFill>
                <a:latin typeface="Aptos"/>
              </a:rPr>
              <a:t>Working full-stack prototype • CRUD • auth • roles</a:t>
            </a:r>
          </a:p>
        </p:txBody>
      </p:sp>
      <p:sp>
        <p:nvSpPr>
          <p:cNvPr id="29" name="Rounded Rectangle 28"/>
          <p:cNvSpPr/>
          <p:nvPr/>
        </p:nvSpPr>
        <p:spPr>
          <a:xfrm>
            <a:off x="7726679" y="4114800"/>
            <a:ext cx="3611880" cy="1143000"/>
          </a:xfrm>
          <a:prstGeom prst="roundRect">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955279" y="4315968"/>
            <a:ext cx="3154680" cy="384048"/>
          </a:xfrm>
          <a:prstGeom prst="rect">
            <a:avLst/>
          </a:prstGeom>
          <a:noFill/>
        </p:spPr>
        <p:txBody>
          <a:bodyPr wrap="square" lIns="36576" tIns="36576" rIns="36576" bIns="36576" anchor="t">
            <a:spAutoFit/>
          </a:bodyPr>
          <a:lstStyle/>
          <a:p>
            <a:pPr algn="ctr">
              <a:spcAft>
                <a:spcPts val="0"/>
              </a:spcAft>
            </a:pPr>
            <a:r>
              <a:rPr sz="2200" b="1">
                <a:solidFill>
                  <a:srgbClr val="0A221C"/>
                </a:solidFill>
                <a:latin typeface="Aptos"/>
              </a:rPr>
              <a:t>THANK YOU!</a:t>
            </a:r>
          </a:p>
        </p:txBody>
      </p:sp>
      <p:sp>
        <p:nvSpPr>
          <p:cNvPr id="31" name="TextBox 30"/>
          <p:cNvSpPr txBox="1"/>
          <p:nvPr/>
        </p:nvSpPr>
        <p:spPr>
          <a:xfrm>
            <a:off x="7955279" y="4736592"/>
            <a:ext cx="3154680" cy="274320"/>
          </a:xfrm>
          <a:prstGeom prst="rect">
            <a:avLst/>
          </a:prstGeom>
          <a:noFill/>
        </p:spPr>
        <p:txBody>
          <a:bodyPr wrap="square" lIns="36576" tIns="36576" rIns="36576" bIns="36576" anchor="t">
            <a:spAutoFit/>
          </a:bodyPr>
          <a:lstStyle/>
          <a:p>
            <a:pPr algn="ctr">
              <a:spcAft>
                <a:spcPts val="0"/>
              </a:spcAft>
            </a:pPr>
            <a:r>
              <a:rPr sz="1300" b="1">
                <a:solidFill>
                  <a:srgbClr val="0A221C"/>
                </a:solidFill>
                <a:latin typeface="Aptos"/>
              </a:rPr>
              <a:t>Questions &amp; Answers</a:t>
            </a:r>
          </a:p>
        </p:txBody>
      </p:sp>
      <p:sp>
        <p:nvSpPr>
          <p:cNvPr id="32" name="TextBox 31"/>
          <p:cNvSpPr txBox="1"/>
          <p:nvPr/>
        </p:nvSpPr>
        <p:spPr>
          <a:xfrm>
            <a:off x="731520" y="5257800"/>
            <a:ext cx="1920240" cy="228600"/>
          </a:xfrm>
          <a:prstGeom prst="rect">
            <a:avLst/>
          </a:prstGeom>
          <a:noFill/>
        </p:spPr>
        <p:txBody>
          <a:bodyPr wrap="square" lIns="36576" tIns="36576" rIns="36576" bIns="36576" anchor="t">
            <a:spAutoFit/>
          </a:bodyPr>
          <a:lstStyle/>
          <a:p>
            <a:pPr algn="l">
              <a:spcAft>
                <a:spcPts val="0"/>
              </a:spcAft>
            </a:pPr>
            <a:r>
              <a:rPr sz="900" b="1">
                <a:solidFill>
                  <a:srgbClr val="BBCFC1"/>
                </a:solidFill>
                <a:latin typeface="Aptos"/>
              </a:rPr>
              <a:t>GITHUB REPOSITORY</a:t>
            </a:r>
          </a:p>
        </p:txBody>
      </p:sp>
      <p:sp>
        <p:nvSpPr>
          <p:cNvPr id="33" name="Rounded Rectangle 32"/>
          <p:cNvSpPr/>
          <p:nvPr/>
        </p:nvSpPr>
        <p:spPr>
          <a:xfrm>
            <a:off x="685800" y="5532120"/>
            <a:ext cx="6583680" cy="475488"/>
          </a:xfrm>
          <a:prstGeom prst="roundRect">
            <a:avLst/>
          </a:prstGeom>
          <a:solidFill>
            <a:srgbClr val="1033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14400" y="5669280"/>
            <a:ext cx="6126480" cy="182880"/>
          </a:xfrm>
          <a:prstGeom prst="rect">
            <a:avLst/>
          </a:prstGeom>
          <a:noFill/>
        </p:spPr>
        <p:txBody>
          <a:bodyPr wrap="square" lIns="36576" tIns="36576" rIns="36576" bIns="36576" anchor="t">
            <a:spAutoFit/>
          </a:bodyPr>
          <a:lstStyle/>
          <a:p>
            <a:pPr algn="l">
              <a:spcAft>
                <a:spcPts val="0"/>
              </a:spcAft>
            </a:pPr>
            <a:r>
              <a:rPr sz="1200" b="1">
                <a:solidFill>
                  <a:srgbClr val="AFE169"/>
                </a:solidFill>
                <a:latin typeface="Aptos"/>
              </a:rPr>
              <a:t>[Add GitHub repository URL]</a:t>
            </a:r>
          </a:p>
        </p:txBody>
      </p:sp>
      <p:sp>
        <p:nvSpPr>
          <p:cNvPr id="35" name="TextBox 34"/>
          <p:cNvSpPr txBox="1"/>
          <p:nvPr/>
        </p:nvSpPr>
        <p:spPr>
          <a:xfrm>
            <a:off x="7818120" y="5669280"/>
            <a:ext cx="3520440" cy="228600"/>
          </a:xfrm>
          <a:prstGeom prst="rect">
            <a:avLst/>
          </a:prstGeom>
          <a:noFill/>
        </p:spPr>
        <p:txBody>
          <a:bodyPr wrap="square" lIns="36576" tIns="36576" rIns="36576" bIns="36576" anchor="t">
            <a:spAutoFit/>
          </a:bodyPr>
          <a:lstStyle/>
          <a:p>
            <a:pPr algn="ctr">
              <a:spcAft>
                <a:spcPts val="0"/>
              </a:spcAft>
            </a:pPr>
            <a:r>
              <a:rPr sz="1000" b="1">
                <a:solidFill>
                  <a:srgbClr val="F9F7EE"/>
                </a:solidFill>
                <a:latin typeface="Aptos"/>
              </a:rPr>
              <a:t>Let’s turn surplus into impact.</a:t>
            </a:r>
          </a:p>
        </p:txBody>
      </p:sp>
      <p:sp>
        <p:nvSpPr>
          <p:cNvPr id="36" name="TextBox 35"/>
          <p:cNvSpPr txBox="1"/>
          <p:nvPr/>
        </p:nvSpPr>
        <p:spPr>
          <a:xfrm>
            <a:off x="594360" y="6510528"/>
            <a:ext cx="5486400" cy="164592"/>
          </a:xfrm>
          <a:prstGeom prst="rect">
            <a:avLst/>
          </a:prstGeom>
          <a:noFill/>
        </p:spPr>
        <p:txBody>
          <a:bodyPr wrap="square" lIns="36576" tIns="36576" rIns="36576" bIns="36576" anchor="t">
            <a:spAutoFit/>
          </a:bodyPr>
          <a:lstStyle/>
          <a:p>
            <a:pPr algn="l">
              <a:spcAft>
                <a:spcPts val="0"/>
              </a:spcAft>
            </a:pPr>
            <a:r>
              <a:rPr sz="800" b="1">
                <a:solidFill>
                  <a:srgbClr val="BBCFC1"/>
                </a:solidFill>
                <a:latin typeface="Aptos"/>
              </a:rPr>
              <a:t>FOODBRIDGE  •  FOOD FORWARD</a:t>
            </a:r>
          </a:p>
        </p:txBody>
      </p:sp>
      <p:sp>
        <p:nvSpPr>
          <p:cNvPr id="37" name="Oval 36"/>
          <p:cNvSpPr/>
          <p:nvPr/>
        </p:nvSpPr>
        <p:spPr>
          <a:xfrm>
            <a:off x="11018520" y="6492240"/>
            <a:ext cx="82296" cy="82296"/>
          </a:xfrm>
          <a:prstGeom prst="ellipse">
            <a:avLst/>
          </a:prstGeom>
          <a:solidFill>
            <a:srgbClr val="30B5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11219688" y="6492240"/>
            <a:ext cx="82296" cy="82296"/>
          </a:xfrm>
          <a:prstGeom prst="ellipse">
            <a:avLst/>
          </a:prstGeom>
          <a:solidFill>
            <a:srgbClr val="FF8F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11420856" y="6492240"/>
            <a:ext cx="82296" cy="82296"/>
          </a:xfrm>
          <a:prstGeom prst="ellipse">
            <a:avLst/>
          </a:prstGeom>
          <a:solidFill>
            <a:srgbClr val="AFE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18</TotalTime>
  <Words>882</Words>
  <Application>Microsoft Office PowerPoint</Application>
  <PresentationFormat>Widescreen</PresentationFormat>
  <Paragraphs>160</Paragraphs>
  <Slides>8</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Algerian</vt:lpstr>
      <vt:lpstr>Aptos</vt:lpstr>
      <vt:lpstr>Arial Black</vt:lpstr>
      <vt:lpstr>Bahnschrift</vt:lpstr>
      <vt:lpstr>Century Gothic</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FoodBridge – Food Donation Marketplace</dc:title>
  <dc:subject>7-slide MERN stack hackathon pitch deck</dc:subject>
  <dc:creator>FoodBridge Team</dc:creator>
  <cp:keywords/>
  <dc:description>generated using python-pptx</dc:description>
  <cp:lastModifiedBy>Anil Kumar</cp:lastModifiedBy>
  <cp:revision>3</cp:revision>
  <dcterms:created xsi:type="dcterms:W3CDTF">2013-01-27T09:14:16Z</dcterms:created>
  <dcterms:modified xsi:type="dcterms:W3CDTF">2026-10-10T08:52:52Z</dcterms:modified>
  <cp:category/>
</cp:coreProperties>
</file>